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3" r:id="rId6"/>
    <p:sldId id="262" r:id="rId7"/>
    <p:sldId id="265" r:id="rId8"/>
    <p:sldId id="264" r:id="rId9"/>
    <p:sldId id="259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8888"/>
    <a:srgbClr val="FFD700"/>
    <a:srgbClr val="0F0F0F"/>
    <a:srgbClr val="FFFFFF"/>
    <a:srgbClr val="2563EB"/>
    <a:srgbClr val="DC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89F179-DA51-4CC9-9899-548A11FE4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BC98CBA-5B5C-4866-BBC2-C4BD31175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B6AB10-2617-4611-B67B-6521227EB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8C56-31ED-4501-A806-53DD908F6ECB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3D5338-7689-44EE-B871-299D5165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E6717A-A62E-4E8B-B9D4-9D7C52B0A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251-FD28-492E-90D7-4096DE5BD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5855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4C4748-8E33-4445-9B2B-FEF678942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CD1DC4-5C7B-44E7-AAD1-632EB0E43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B8CD7E-57F4-49D5-A125-F7A6DE8CA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8C56-31ED-4501-A806-53DD908F6ECB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A6BCBA-0B5C-4AB5-A6A6-581E0D7D4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EAF647-8CC4-4030-8AE4-1E2939A07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251-FD28-492E-90D7-4096DE5BD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4967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293942-D178-4264-84CA-A0916246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68F95E-A069-48E6-8A87-9C6DB84C2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FB8506-DE5A-4234-AB73-9729DEA14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8C56-31ED-4501-A806-53DD908F6ECB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6E06B2-45AF-4203-9B8C-705D69496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1174CC7-C996-45BC-9CE8-8363F9D00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251-FD28-492E-90D7-4096DE5BD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586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EE1B28-DDE1-44D3-B875-70D90378B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E09A4A-A4F3-4E0A-ACF7-7E4BFC804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4D15F68-2053-440F-B62C-B517307EF4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9C5C22-4744-4D9D-B951-B4D1F7DAC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8C56-31ED-4501-A806-53DD908F6ECB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D13BE2-BD41-4D4B-8F19-032F91979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58A4DA-DAFB-4ECF-BDC9-8F7EBECB2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251-FD28-492E-90D7-4096DE5BD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0876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C95C45-487B-4A52-BDC1-7C896BC59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1CC23A-1EDD-418F-8058-7F9D2CF38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D5D73B-3FE1-42C1-B7F1-CDF72AAE0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C4FB8A8-9EA1-44B3-9FAD-4ACD98E116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75A40C1-72FF-4805-A0C8-83B2AA943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20D2085-ED76-4B95-AC7D-8A78B27C2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8C56-31ED-4501-A806-53DD908F6ECB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EB4B002-2532-4FE2-AA05-4150F297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991144C-C644-4CC6-9E5F-668C861D6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251-FD28-492E-90D7-4096DE5BD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2412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67C982-9845-4266-9C74-57B218BBE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CFBEB20-70C5-4CE2-AC34-DE3A851D5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8C56-31ED-4501-A806-53DD908F6ECB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A73C53-09CA-4428-AF8A-2685E15AA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A171A6-B558-476B-B847-7E247D6A6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251-FD28-492E-90D7-4096DE5BD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4918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EA83042-1E9A-43C5-A6D0-508795A6D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8C56-31ED-4501-A806-53DD908F6ECB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090275E-FA5C-4C25-B431-ED5BADF4A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22E80C-1FD9-45A2-AAAD-38375C645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251-FD28-492E-90D7-4096DE5BD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80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8EDC3-DA0E-4B28-B2C0-E6CCF70B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9F605C-75D8-4446-85F6-8B297CA57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2DFC78-E3F9-4085-8763-9EF0E45A6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D734B5-7E38-4C00-AADD-44ECC0BD7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8C56-31ED-4501-A806-53DD908F6ECB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699088D-E860-416A-91B2-AA760E664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EC6AF1A-F7C0-419A-82C2-7F4E2A344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251-FD28-492E-90D7-4096DE5BD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068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AD147-C76F-4DDD-B8AE-421E9ED18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9CFF979-A469-444C-9262-CDDFF59798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4EDB65C-F102-4E30-86BA-07833CF3B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B0548D-7E57-4E43-8898-19B728E76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8C56-31ED-4501-A806-53DD908F6ECB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7598FE1-590E-4853-8F34-0AB4F14F5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CD5E7F5-D1E6-4F00-9409-0C380B37D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251-FD28-492E-90D7-4096DE5BD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282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F5B92D-5A5D-41FB-AB40-B2A0697DA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A1F6B1-188F-43E3-996A-874247A19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83E406-385F-4209-89BF-3B686406B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8C56-31ED-4501-A806-53DD908F6ECB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289BFC-AD96-48E2-A2CB-A53B8D26C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108BC5-05BC-4406-B946-EB8F4E292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251-FD28-492E-90D7-4096DE5BD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0980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11D27AA-351E-4DF2-BAE9-69DACAC360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25F2A2-5892-474F-AF15-8663915904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5D7C82-D4AF-41C4-BB59-CB4E93A0B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78C56-31ED-4501-A806-53DD908F6ECB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919FC4-E643-4EFA-B84F-9A69668D8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2D9E04-FA69-488B-AE3D-D46301B0E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A7251-FD28-492E-90D7-4096DE5BD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542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05CEB6-378C-4C85-8759-1D4C5F46C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DB68D80-01F5-422C-B678-60FB82FA6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6365DB-1AFD-4D18-8F0B-EF0106A12E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78C56-31ED-4501-A806-53DD908F6ECB}" type="datetimeFigureOut">
              <a:rPr lang="ru-RU" smtClean="0"/>
              <a:t>09.12.2025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058AB8-43A7-4F2B-A545-04D191F9F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4D460D-8F5C-4DA3-8FC1-3F816C2746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A7251-FD28-492E-90D7-4096DE5BD8C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17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0D6210-AF27-46F6-AF58-2C16F8AD2B1F}"/>
              </a:ext>
            </a:extLst>
          </p:cNvPr>
          <p:cNvSpPr txBox="1"/>
          <p:nvPr/>
        </p:nvSpPr>
        <p:spPr>
          <a:xfrm>
            <a:off x="2295473" y="163629"/>
            <a:ext cx="760105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ФЕДЕРАЛЬНОЕ ГОСУДАРСТВЕННОЕ БЮДЖЕТНОЕ ОБРАЗОВАТЕЛЬНОЕ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УЧРЕЖДЕНИЕ ВЫСШЕГО ОБРАЗОВАНИЯ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«САНКТ-ПЕТЕРБУРГСКИЙ ГОСУДАРСТВЕННЫЙ УНИВЕРСИТЕТ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ТЕЛЕКОММУНИКАЦИЙ ИМ. ПРОФ. М.А. БОНЧ-БРУЕВИЧА»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sz="1800" dirty="0" err="1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СПбГУТ</a:t>
            </a: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АРХАНГЕЛЬСКИЙ КОЛЛЕДЖ ТЕЛЕКОММУНИКАЦИЙ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ИМ. Б.Л. РОЗИНГА (ФИЛИАЛ) </a:t>
            </a:r>
            <a:r>
              <a:rPr lang="ru-RU" sz="1800" dirty="0" err="1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СПбГУТ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(АКТ (ф) </a:t>
            </a:r>
            <a:r>
              <a:rPr lang="ru-RU" sz="1800" dirty="0" err="1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СПбГУТ</a:t>
            </a: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4A6D8E-E6D1-46B0-8004-1E1DB603A127}"/>
              </a:ext>
            </a:extLst>
          </p:cNvPr>
          <p:cNvSpPr txBox="1"/>
          <p:nvPr/>
        </p:nvSpPr>
        <p:spPr>
          <a:xfrm>
            <a:off x="4661150" y="2651374"/>
            <a:ext cx="314451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КУРСОВОЙ</a:t>
            </a:r>
            <a:r>
              <a:rPr lang="ru-RU" sz="2400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2400" b="1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ПРОЕКТ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F7D4B-269A-4CAE-A54C-677C95976014}"/>
              </a:ext>
            </a:extLst>
          </p:cNvPr>
          <p:cNvSpPr txBox="1"/>
          <p:nvPr/>
        </p:nvSpPr>
        <p:spPr>
          <a:xfrm>
            <a:off x="3169968" y="3164153"/>
            <a:ext cx="61268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РАЗРАБОТКА ПОДСИСТЕМЫ ДЛЯ СУДЕЙСТВА СОРЕВНОВАНИЙ ПО ГРЕКО-РИМСКОЙ И ВОЛЬНОЙ БОРЬБЕ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A39A9E-0779-4845-B4D0-67AF1696BE37}"/>
              </a:ext>
            </a:extLst>
          </p:cNvPr>
          <p:cNvSpPr txBox="1"/>
          <p:nvPr/>
        </p:nvSpPr>
        <p:spPr>
          <a:xfrm>
            <a:off x="8313821" y="4611121"/>
            <a:ext cx="609760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Махин Николай Юрьевич</a:t>
            </a:r>
          </a:p>
          <a:p>
            <a:r>
              <a:rPr lang="ru-RU" sz="16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Студент ИСПП-21</a:t>
            </a:r>
          </a:p>
          <a:p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dirty="0" err="1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Маломан</a:t>
            </a:r>
            <a:r>
              <a:rPr lang="ru-RU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Юлия Сергеевна</a:t>
            </a:r>
            <a:b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Руководитель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51BDC0-3D1A-490C-92A3-B12AFB650F8E}"/>
              </a:ext>
            </a:extLst>
          </p:cNvPr>
          <p:cNvSpPr txBox="1"/>
          <p:nvPr/>
        </p:nvSpPr>
        <p:spPr>
          <a:xfrm>
            <a:off x="5342021" y="6323798"/>
            <a:ext cx="205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Архангельск 2025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3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E717C2-2F44-42D3-B168-E2EE4DD7D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Актуальность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29BDB1D8-6A95-4397-AC77-73F1AB65A90E}"/>
              </a:ext>
            </a:extLst>
          </p:cNvPr>
          <p:cNvSpPr/>
          <p:nvPr/>
        </p:nvSpPr>
        <p:spPr>
          <a:xfrm>
            <a:off x="1703671" y="5467150"/>
            <a:ext cx="9115125" cy="943276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FFD700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✦ </a:t>
            </a:r>
            <a:r>
              <a:rPr lang="ru-RU" sz="20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Рост популярности борьбы 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A1E85E59-EFF3-48F5-ADB4-894AC5F440E9}"/>
              </a:ext>
            </a:extLst>
          </p:cNvPr>
          <p:cNvSpPr/>
          <p:nvPr/>
        </p:nvSpPr>
        <p:spPr>
          <a:xfrm>
            <a:off x="5218496" y="1660259"/>
            <a:ext cx="5390148" cy="3371249"/>
          </a:xfrm>
          <a:prstGeom prst="roundRect">
            <a:avLst/>
          </a:prstGeom>
          <a:solidFill>
            <a:srgbClr val="0F0F0F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42EAD37-A900-4EA8-93EE-BBB0736E57DF}"/>
              </a:ext>
            </a:extLst>
          </p:cNvPr>
          <p:cNvSpPr/>
          <p:nvPr/>
        </p:nvSpPr>
        <p:spPr>
          <a:xfrm>
            <a:off x="5428648" y="1815215"/>
            <a:ext cx="5390148" cy="3371249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	✦ Проблема ручного судейства</a:t>
            </a:r>
          </a:p>
          <a:p>
            <a:r>
              <a:rPr lang="ru-RU" dirty="0"/>
              <a:t>Высокая вероятность ошибок при подсчёте очков</a:t>
            </a:r>
          </a:p>
          <a:p>
            <a:r>
              <a:rPr lang="ru-RU" dirty="0"/>
              <a:t>Задержки при фиксации результатов</a:t>
            </a:r>
          </a:p>
          <a:p>
            <a:r>
              <a:rPr lang="ru-RU" dirty="0"/>
              <a:t>Сложность синхронизации данных между судьями</a:t>
            </a:r>
          </a:p>
          <a:p>
            <a:r>
              <a:rPr lang="ru-RU" dirty="0"/>
              <a:t>	✦ Цифровизация спорта</a:t>
            </a:r>
          </a:p>
          <a:p>
            <a:r>
              <a:rPr lang="ru-RU" dirty="0"/>
              <a:t>Переход от бумажных протоколов к электронным системам</a:t>
            </a:r>
          </a:p>
          <a:p>
            <a:r>
              <a:rPr lang="ru-RU" dirty="0"/>
              <a:t>Требования федераций к автоматизации процессов</a:t>
            </a:r>
          </a:p>
          <a:p>
            <a:r>
              <a:rPr lang="ru-RU" dirty="0"/>
              <a:t>Интеграция с базами данных спортсменов</a:t>
            </a:r>
          </a:p>
        </p:txBody>
      </p:sp>
      <p:pic>
        <p:nvPicPr>
          <p:cNvPr id="11" name="Рисунок 10" descr="Контрольный список со сплошной заливкой">
            <a:extLst>
              <a:ext uri="{FF2B5EF4-FFF2-40B4-BE49-F238E27FC236}">
                <a16:creationId xmlns:a16="http://schemas.microsoft.com/office/drawing/2014/main" id="{36107FCB-3821-4FDE-AB5B-6C4755D16A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4815" y="1971374"/>
            <a:ext cx="2448525" cy="244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08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0B77D-952F-4844-8BD0-CF9E34230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Целевая аудитория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48682F-2F89-45DF-87FC-D7512CDD4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8617" y="197962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rgbClr val="FFFFFF"/>
                </a:solidFill>
              </a:rPr>
              <a:t>✦</a:t>
            </a:r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Судьи</a:t>
            </a:r>
          </a:p>
          <a:p>
            <a:pPr marL="0" indent="0">
              <a:buNone/>
            </a:pPr>
            <a:endParaRPr lang="ru-RU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✦ Организаторы</a:t>
            </a:r>
          </a:p>
          <a:p>
            <a:pPr marL="0" indent="0">
              <a:buNone/>
            </a:pPr>
            <a:endParaRPr lang="ru-RU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✦ Зрители</a:t>
            </a:r>
          </a:p>
          <a:p>
            <a:pPr marL="0" indent="0">
              <a:buNone/>
            </a:pPr>
            <a:endParaRPr lang="ru-RU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✦ Тренеры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A198F9-99FA-42F7-8C00-06D5674B4AB9}"/>
              </a:ext>
            </a:extLst>
          </p:cNvPr>
          <p:cNvSpPr txBox="1"/>
          <p:nvPr/>
        </p:nvSpPr>
        <p:spPr>
          <a:xfrm>
            <a:off x="7892717" y="3679257"/>
            <a:ext cx="172292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600" dirty="0"/>
              <a:t>👥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78E7C5-7C94-4589-B3E7-D45985EFEEA1}"/>
              </a:ext>
            </a:extLst>
          </p:cNvPr>
          <p:cNvSpPr txBox="1"/>
          <p:nvPr/>
        </p:nvSpPr>
        <p:spPr>
          <a:xfrm>
            <a:off x="7892717" y="4813086"/>
            <a:ext cx="134363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600" dirty="0"/>
              <a:t>🎓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0D1139-3B6D-495E-B567-AA64208CAD65}"/>
              </a:ext>
            </a:extLst>
          </p:cNvPr>
          <p:cNvSpPr txBox="1"/>
          <p:nvPr/>
        </p:nvSpPr>
        <p:spPr>
          <a:xfrm>
            <a:off x="7980081" y="2718078"/>
            <a:ext cx="116891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600" dirty="0"/>
              <a:t>👨‍💼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A62FD-DFC0-42AA-85FF-958A70574A64}"/>
              </a:ext>
            </a:extLst>
          </p:cNvPr>
          <p:cNvSpPr txBox="1"/>
          <p:nvPr/>
        </p:nvSpPr>
        <p:spPr>
          <a:xfrm>
            <a:off x="7892717" y="1581545"/>
            <a:ext cx="134684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6600" dirty="0"/>
              <a:t>🏅</a:t>
            </a:r>
          </a:p>
        </p:txBody>
      </p:sp>
    </p:spTree>
    <p:extLst>
      <p:ext uri="{BB962C8B-B14F-4D97-AF65-F5344CB8AC3E}">
        <p14:creationId xmlns:p14="http://schemas.microsoft.com/office/powerpoint/2010/main" val="1605471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00B77D-952F-4844-8BD0-CF9E34230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Цель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B2FF4E0-B7F0-409F-973E-2D038D06F052}"/>
              </a:ext>
            </a:extLst>
          </p:cNvPr>
          <p:cNvSpPr/>
          <p:nvPr/>
        </p:nvSpPr>
        <p:spPr>
          <a:xfrm>
            <a:off x="1366787" y="1876927"/>
            <a:ext cx="5900632" cy="4253413"/>
          </a:xfrm>
          <a:prstGeom prst="roundRect">
            <a:avLst/>
          </a:prstGeom>
          <a:solidFill>
            <a:srgbClr val="0F0F0F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BB2A0D3-A7E6-40AA-930C-75596C1E3508}"/>
              </a:ext>
            </a:extLst>
          </p:cNvPr>
          <p:cNvSpPr/>
          <p:nvPr/>
        </p:nvSpPr>
        <p:spPr>
          <a:xfrm>
            <a:off x="1576939" y="2031883"/>
            <a:ext cx="5900632" cy="4253413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	</a:t>
            </a:r>
            <a:r>
              <a:rPr lang="ru-RU" sz="2400" dirty="0">
                <a:latin typeface="Segoe UI" panose="020B0502040204020203" pitchFamily="34" charset="0"/>
                <a:cs typeface="Segoe UI" panose="020B0502040204020203" pitchFamily="34" charset="0"/>
              </a:rPr>
              <a:t>✦ Разработать оконное приложение для судейства и проведения соревнований по греко-римской и вольной борьбе.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882D8BF-883B-4994-834A-0ED06B47E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747" y="1992376"/>
            <a:ext cx="4137964" cy="41379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5990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6C32E2-0C03-43EA-89E2-73EA90B70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Задачи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6217C814-EB2D-4E40-AF2B-2A04EF441420}"/>
              </a:ext>
            </a:extLst>
          </p:cNvPr>
          <p:cNvSpPr/>
          <p:nvPr/>
        </p:nvSpPr>
        <p:spPr>
          <a:xfrm>
            <a:off x="568692" y="1716178"/>
            <a:ext cx="5047648" cy="634316"/>
          </a:xfrm>
          <a:prstGeom prst="roundRect">
            <a:avLst/>
          </a:prstGeom>
          <a:solidFill>
            <a:srgbClr val="0F0F0F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B4E334B-36CC-4601-BC3B-66F0E8939A9C}"/>
              </a:ext>
            </a:extLst>
          </p:cNvPr>
          <p:cNvSpPr/>
          <p:nvPr/>
        </p:nvSpPr>
        <p:spPr>
          <a:xfrm>
            <a:off x="778844" y="1871134"/>
            <a:ext cx="5047648" cy="634316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	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✦ Проектирование интерфейса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4470F92-5E4C-4A84-A829-870E1B89C97F}"/>
              </a:ext>
            </a:extLst>
          </p:cNvPr>
          <p:cNvSpPr/>
          <p:nvPr/>
        </p:nvSpPr>
        <p:spPr>
          <a:xfrm>
            <a:off x="6365508" y="4312465"/>
            <a:ext cx="5047648" cy="634316"/>
          </a:xfrm>
          <a:prstGeom prst="roundRect">
            <a:avLst/>
          </a:prstGeom>
          <a:solidFill>
            <a:srgbClr val="0F0F0F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0E7B523-AA3D-4155-BCF5-934C358E99EE}"/>
              </a:ext>
            </a:extLst>
          </p:cNvPr>
          <p:cNvSpPr/>
          <p:nvPr/>
        </p:nvSpPr>
        <p:spPr>
          <a:xfrm>
            <a:off x="6575660" y="4467421"/>
            <a:ext cx="5047648" cy="634316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	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✦ Система авторизации и 	импорт/экспорт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9E5B2D3-C1D6-4797-9BAF-F3C218EBA8BD}"/>
              </a:ext>
            </a:extLst>
          </p:cNvPr>
          <p:cNvSpPr/>
          <p:nvPr/>
        </p:nvSpPr>
        <p:spPr>
          <a:xfrm>
            <a:off x="568692" y="3331479"/>
            <a:ext cx="5047648" cy="634316"/>
          </a:xfrm>
          <a:prstGeom prst="roundRect">
            <a:avLst/>
          </a:prstGeom>
          <a:solidFill>
            <a:srgbClr val="0F0F0F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ED4BAAA-16C2-41EB-9E33-74158F63C564}"/>
              </a:ext>
            </a:extLst>
          </p:cNvPr>
          <p:cNvSpPr/>
          <p:nvPr/>
        </p:nvSpPr>
        <p:spPr>
          <a:xfrm>
            <a:off x="778844" y="3486435"/>
            <a:ext cx="5047648" cy="634316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	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✦ Реализация модуля судейства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7FA7155-AD39-4819-A7B1-2CA1F44C17B4}"/>
              </a:ext>
            </a:extLst>
          </p:cNvPr>
          <p:cNvSpPr/>
          <p:nvPr/>
        </p:nvSpPr>
        <p:spPr>
          <a:xfrm>
            <a:off x="628048" y="5101737"/>
            <a:ext cx="5047648" cy="634316"/>
          </a:xfrm>
          <a:prstGeom prst="roundRect">
            <a:avLst/>
          </a:prstGeom>
          <a:solidFill>
            <a:srgbClr val="0F0F0F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E3641CBA-1729-462C-8A21-1EE96098AA4F}"/>
              </a:ext>
            </a:extLst>
          </p:cNvPr>
          <p:cNvSpPr/>
          <p:nvPr/>
        </p:nvSpPr>
        <p:spPr>
          <a:xfrm>
            <a:off x="838200" y="5256693"/>
            <a:ext cx="5047648" cy="634316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ru-RU" dirty="0"/>
              <a:t>	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✦ Создание табло для второго 	монитора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7207653B-9A6E-46DE-BAFC-D63F85484A81}"/>
              </a:ext>
            </a:extLst>
          </p:cNvPr>
          <p:cNvSpPr/>
          <p:nvPr/>
        </p:nvSpPr>
        <p:spPr>
          <a:xfrm>
            <a:off x="6365508" y="2606940"/>
            <a:ext cx="5047648" cy="634316"/>
          </a:xfrm>
          <a:prstGeom prst="roundRect">
            <a:avLst/>
          </a:prstGeom>
          <a:solidFill>
            <a:srgbClr val="0F0F0F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6FF7D97-BA02-4B4C-A887-AB59507484A3}"/>
              </a:ext>
            </a:extLst>
          </p:cNvPr>
          <p:cNvSpPr/>
          <p:nvPr/>
        </p:nvSpPr>
        <p:spPr>
          <a:xfrm>
            <a:off x="6575660" y="2761896"/>
            <a:ext cx="5047648" cy="634316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dirty="0"/>
              <a:t>	</a:t>
            </a:r>
            <a: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  <a:t>✦ Разработка и интеграция БД</a:t>
            </a:r>
          </a:p>
        </p:txBody>
      </p:sp>
    </p:spTree>
    <p:extLst>
      <p:ext uri="{BB962C8B-B14F-4D97-AF65-F5344CB8AC3E}">
        <p14:creationId xmlns:p14="http://schemas.microsoft.com/office/powerpoint/2010/main" val="17332637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87DDA-42DD-4520-99E9-A47EE772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Средства разработки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22B2FE0-D500-4A4A-8186-92E79DD4CA2A}"/>
              </a:ext>
            </a:extLst>
          </p:cNvPr>
          <p:cNvSpPr/>
          <p:nvPr/>
        </p:nvSpPr>
        <p:spPr>
          <a:xfrm>
            <a:off x="1158239" y="1809551"/>
            <a:ext cx="9875521" cy="2184934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FFD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8EF0EAF7-FE9B-4F3A-993A-96B2D6B3318C}"/>
              </a:ext>
            </a:extLst>
          </p:cNvPr>
          <p:cNvSpPr/>
          <p:nvPr/>
        </p:nvSpPr>
        <p:spPr>
          <a:xfrm>
            <a:off x="1393255" y="2107935"/>
            <a:ext cx="2964582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8E154B11-1ABC-4725-9539-94C326980A1D}"/>
              </a:ext>
            </a:extLst>
          </p:cNvPr>
          <p:cNvSpPr/>
          <p:nvPr/>
        </p:nvSpPr>
        <p:spPr>
          <a:xfrm>
            <a:off x="4636767" y="2107934"/>
            <a:ext cx="2964582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256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03B129E9-4FC9-48A1-A3E2-2DC57D2CB798}"/>
              </a:ext>
            </a:extLst>
          </p:cNvPr>
          <p:cNvSpPr/>
          <p:nvPr/>
        </p:nvSpPr>
        <p:spPr>
          <a:xfrm>
            <a:off x="7880280" y="2107935"/>
            <a:ext cx="2964582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B20F09-4715-442F-8533-ED019D1F9378}"/>
              </a:ext>
            </a:extLst>
          </p:cNvPr>
          <p:cNvSpPr txBox="1"/>
          <p:nvPr/>
        </p:nvSpPr>
        <p:spPr>
          <a:xfrm>
            <a:off x="2153651" y="2578852"/>
            <a:ext cx="1443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Платформа</a:t>
            </a:r>
          </a:p>
          <a:p>
            <a:pPr algn="ctr"/>
            <a:r>
              <a:rPr lang="en-US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.NET 8</a:t>
            </a:r>
            <a:endParaRPr lang="ru-RU" dirty="0">
              <a:solidFill>
                <a:srgbClr val="88888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9D3534-9B22-4A37-97C7-4EC5CFBC5FD9}"/>
              </a:ext>
            </a:extLst>
          </p:cNvPr>
          <p:cNvSpPr txBox="1"/>
          <p:nvPr/>
        </p:nvSpPr>
        <p:spPr>
          <a:xfrm>
            <a:off x="5351729" y="2578852"/>
            <a:ext cx="14446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Интерфейс</a:t>
            </a:r>
          </a:p>
          <a:p>
            <a:pPr algn="ctr"/>
            <a:r>
              <a:rPr lang="en-US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WPF (XAML)</a:t>
            </a:r>
            <a:endParaRPr lang="ru-RU" dirty="0">
              <a:solidFill>
                <a:srgbClr val="88888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F03D1C-5C1C-4B75-82A7-36947F0ED62C}"/>
              </a:ext>
            </a:extLst>
          </p:cNvPr>
          <p:cNvSpPr txBox="1"/>
          <p:nvPr/>
        </p:nvSpPr>
        <p:spPr>
          <a:xfrm>
            <a:off x="8982498" y="2578852"/>
            <a:ext cx="76014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Язык</a:t>
            </a:r>
          </a:p>
          <a:p>
            <a:pPr algn="ctr"/>
            <a:r>
              <a:rPr lang="en-US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C#</a:t>
            </a:r>
            <a:endParaRPr lang="ru-RU" dirty="0">
              <a:solidFill>
                <a:srgbClr val="88888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8A2C7850-1175-4CAD-BF7D-8F03472DA59A}"/>
              </a:ext>
            </a:extLst>
          </p:cNvPr>
          <p:cNvSpPr/>
          <p:nvPr/>
        </p:nvSpPr>
        <p:spPr>
          <a:xfrm>
            <a:off x="1158239" y="4292868"/>
            <a:ext cx="9875521" cy="2184934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FFD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B0E60B60-010C-4D86-BB11-80D473893C18}"/>
              </a:ext>
            </a:extLst>
          </p:cNvPr>
          <p:cNvSpPr/>
          <p:nvPr/>
        </p:nvSpPr>
        <p:spPr>
          <a:xfrm>
            <a:off x="1393255" y="4591252"/>
            <a:ext cx="2964582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A807C8FA-B36C-4875-8A50-8BFF5431EE15}"/>
              </a:ext>
            </a:extLst>
          </p:cNvPr>
          <p:cNvSpPr/>
          <p:nvPr/>
        </p:nvSpPr>
        <p:spPr>
          <a:xfrm>
            <a:off x="4636767" y="4591251"/>
            <a:ext cx="2964582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256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D779A580-5191-4B82-8D0C-C86C01E08A51}"/>
              </a:ext>
            </a:extLst>
          </p:cNvPr>
          <p:cNvSpPr/>
          <p:nvPr/>
        </p:nvSpPr>
        <p:spPr>
          <a:xfrm>
            <a:off x="7880280" y="4591252"/>
            <a:ext cx="2964582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249ACD-FB1A-43C0-BC57-01EE7213AB10}"/>
              </a:ext>
            </a:extLst>
          </p:cNvPr>
          <p:cNvSpPr txBox="1"/>
          <p:nvPr/>
        </p:nvSpPr>
        <p:spPr>
          <a:xfrm>
            <a:off x="2153651" y="5062169"/>
            <a:ext cx="1443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СУБД</a:t>
            </a:r>
          </a:p>
          <a:p>
            <a:pPr algn="ctr"/>
            <a:r>
              <a:rPr lang="en-US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Server</a:t>
            </a:r>
            <a:endParaRPr lang="ru-RU" dirty="0">
              <a:solidFill>
                <a:srgbClr val="88888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160728-CEBF-4F9B-97B6-2291E46F6193}"/>
              </a:ext>
            </a:extLst>
          </p:cNvPr>
          <p:cNvSpPr txBox="1"/>
          <p:nvPr/>
        </p:nvSpPr>
        <p:spPr>
          <a:xfrm>
            <a:off x="5102015" y="5062169"/>
            <a:ext cx="19440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ORM</a:t>
            </a:r>
            <a:endParaRPr lang="ru-RU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Entity Framework</a:t>
            </a:r>
            <a:endParaRPr lang="ru-RU" dirty="0">
              <a:solidFill>
                <a:srgbClr val="88888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5E681A-30AC-484E-9A6F-26BEECD64F90}"/>
              </a:ext>
            </a:extLst>
          </p:cNvPr>
          <p:cNvSpPr txBox="1"/>
          <p:nvPr/>
        </p:nvSpPr>
        <p:spPr>
          <a:xfrm>
            <a:off x="8544847" y="5062169"/>
            <a:ext cx="16354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Тестирование</a:t>
            </a:r>
          </a:p>
          <a:p>
            <a:pPr algn="ctr"/>
            <a:r>
              <a:rPr lang="en-US" dirty="0" err="1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xUnit</a:t>
            </a:r>
            <a:endParaRPr lang="ru-RU" dirty="0">
              <a:solidFill>
                <a:srgbClr val="88888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7716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342ED5-3BFF-48A3-A2D5-BE91D3EF2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Архитектура системы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CFD05E4-4CE4-497E-AFAE-841025BF4208}"/>
              </a:ext>
            </a:extLst>
          </p:cNvPr>
          <p:cNvSpPr/>
          <p:nvPr/>
        </p:nvSpPr>
        <p:spPr>
          <a:xfrm>
            <a:off x="1158239" y="1501543"/>
            <a:ext cx="9640505" cy="2454440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FFD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2961C5E-21C8-4DE8-9976-791CE4D738B4}"/>
              </a:ext>
            </a:extLst>
          </p:cNvPr>
          <p:cNvSpPr/>
          <p:nvPr/>
        </p:nvSpPr>
        <p:spPr>
          <a:xfrm>
            <a:off x="1339166" y="1799927"/>
            <a:ext cx="2206593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86A7AAA-93E5-435A-A4EC-21B2649F6299}"/>
              </a:ext>
            </a:extLst>
          </p:cNvPr>
          <p:cNvSpPr/>
          <p:nvPr/>
        </p:nvSpPr>
        <p:spPr>
          <a:xfrm>
            <a:off x="3727817" y="1799927"/>
            <a:ext cx="2206593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256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19136E4-0D94-4412-B3C5-89A3F2E120F8}"/>
              </a:ext>
            </a:extLst>
          </p:cNvPr>
          <p:cNvSpPr/>
          <p:nvPr/>
        </p:nvSpPr>
        <p:spPr>
          <a:xfrm>
            <a:off x="6093696" y="1799927"/>
            <a:ext cx="2206593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D71323-6765-4D29-BAF9-C5B1FF6435D0}"/>
              </a:ext>
            </a:extLst>
          </p:cNvPr>
          <p:cNvSpPr txBox="1"/>
          <p:nvPr/>
        </p:nvSpPr>
        <p:spPr>
          <a:xfrm>
            <a:off x="1793920" y="2355074"/>
            <a:ext cx="1238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Login Window</a:t>
            </a:r>
            <a:endParaRPr lang="ru-RU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522789-07C5-4E99-B108-93869F974F3A}"/>
              </a:ext>
            </a:extLst>
          </p:cNvPr>
          <p:cNvSpPr txBox="1"/>
          <p:nvPr/>
        </p:nvSpPr>
        <p:spPr>
          <a:xfrm>
            <a:off x="4320784" y="2287044"/>
            <a:ext cx="10752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Main Window</a:t>
            </a:r>
            <a:endParaRPr lang="ru-RU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BFBE8E-DC13-4499-8BA2-E6D2DA4DDFB9}"/>
              </a:ext>
            </a:extLst>
          </p:cNvPr>
          <p:cNvSpPr txBox="1"/>
          <p:nvPr/>
        </p:nvSpPr>
        <p:spPr>
          <a:xfrm>
            <a:off x="8982498" y="2270844"/>
            <a:ext cx="5657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Язык</a:t>
            </a:r>
          </a:p>
          <a:p>
            <a:pPr algn="ctr"/>
            <a:r>
              <a:rPr lang="en-US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C#</a:t>
            </a:r>
            <a:endParaRPr lang="ru-RU" dirty="0">
              <a:solidFill>
                <a:srgbClr val="888888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dirty="0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48D35B23-CCBD-4EED-9AAF-8294F4BD8291}"/>
              </a:ext>
            </a:extLst>
          </p:cNvPr>
          <p:cNvSpPr/>
          <p:nvPr/>
        </p:nvSpPr>
        <p:spPr>
          <a:xfrm>
            <a:off x="8447450" y="1802336"/>
            <a:ext cx="2206593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5263EF-80E8-411C-8A78-F3818936B640}"/>
              </a:ext>
            </a:extLst>
          </p:cNvPr>
          <p:cNvSpPr txBox="1"/>
          <p:nvPr/>
        </p:nvSpPr>
        <p:spPr>
          <a:xfrm>
            <a:off x="6546576" y="2405597"/>
            <a:ext cx="13458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Scoreboard</a:t>
            </a:r>
            <a:endParaRPr lang="ru-RU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8625B0-5C8B-4343-90BD-0557D626A637}"/>
              </a:ext>
            </a:extLst>
          </p:cNvPr>
          <p:cNvSpPr txBox="1"/>
          <p:nvPr/>
        </p:nvSpPr>
        <p:spPr>
          <a:xfrm>
            <a:off x="8982498" y="2328583"/>
            <a:ext cx="112742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Database</a:t>
            </a:r>
          </a:p>
          <a:p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Window</a:t>
            </a:r>
            <a:endParaRPr lang="ru-RU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CA2CD6-6CD5-4587-B1F1-3EBEF3EFF6AC}"/>
              </a:ext>
            </a:extLst>
          </p:cNvPr>
          <p:cNvSpPr txBox="1"/>
          <p:nvPr/>
        </p:nvSpPr>
        <p:spPr>
          <a:xfrm>
            <a:off x="4503998" y="3497334"/>
            <a:ext cx="271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Уровень представления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36D3598-7CC2-4FFD-B554-9FDA65FADBE4}"/>
              </a:ext>
            </a:extLst>
          </p:cNvPr>
          <p:cNvSpPr/>
          <p:nvPr/>
        </p:nvSpPr>
        <p:spPr>
          <a:xfrm>
            <a:off x="1221449" y="4177364"/>
            <a:ext cx="5121599" cy="2315511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FFD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9C56D542-627B-4DFC-8E64-5E55EB4F4505}"/>
              </a:ext>
            </a:extLst>
          </p:cNvPr>
          <p:cNvSpPr/>
          <p:nvPr/>
        </p:nvSpPr>
        <p:spPr>
          <a:xfrm>
            <a:off x="1393377" y="4664404"/>
            <a:ext cx="2206593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072EE18-2F73-46D4-918A-D2B2CAF878DF}"/>
              </a:ext>
            </a:extLst>
          </p:cNvPr>
          <p:cNvSpPr/>
          <p:nvPr/>
        </p:nvSpPr>
        <p:spPr>
          <a:xfrm>
            <a:off x="3771898" y="4664404"/>
            <a:ext cx="2206593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256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9CA8E9C0-5D1D-444B-A132-1EDA96528220}"/>
              </a:ext>
            </a:extLst>
          </p:cNvPr>
          <p:cNvSpPr/>
          <p:nvPr/>
        </p:nvSpPr>
        <p:spPr>
          <a:xfrm>
            <a:off x="6670307" y="4213943"/>
            <a:ext cx="3983736" cy="2242351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FFD7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50C90F0-B21C-4F85-9342-D1725D61E589}"/>
              </a:ext>
            </a:extLst>
          </p:cNvPr>
          <p:cNvSpPr/>
          <p:nvPr/>
        </p:nvSpPr>
        <p:spPr>
          <a:xfrm>
            <a:off x="7558878" y="4664404"/>
            <a:ext cx="2206593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90EAD2-77EB-42C0-A31E-BF70AF641DF6}"/>
              </a:ext>
            </a:extLst>
          </p:cNvPr>
          <p:cNvSpPr txBox="1"/>
          <p:nvPr/>
        </p:nvSpPr>
        <p:spPr>
          <a:xfrm>
            <a:off x="2826564" y="4230548"/>
            <a:ext cx="1718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Бизнес-логика</a:t>
            </a:r>
          </a:p>
          <a:p>
            <a:endParaRPr lang="ru-RU" dirty="0"/>
          </a:p>
        </p:txBody>
      </p:sp>
      <p:cxnSp>
        <p:nvCxnSpPr>
          <p:cNvPr id="25" name="Соединитель: уступ 24">
            <a:extLst>
              <a:ext uri="{FF2B5EF4-FFF2-40B4-BE49-F238E27FC236}">
                <a16:creationId xmlns:a16="http://schemas.microsoft.com/office/drawing/2014/main" id="{5241AB66-3DC0-45D4-A659-5712FCFF3262}"/>
              </a:ext>
            </a:extLst>
          </p:cNvPr>
          <p:cNvCxnSpPr>
            <a:cxnSpLocks/>
            <a:stCxn id="5" idx="1"/>
            <a:endCxn id="16" idx="1"/>
          </p:cNvCxnSpPr>
          <p:nvPr/>
        </p:nvCxnSpPr>
        <p:spPr>
          <a:xfrm rot="10800000" flipH="1" flipV="1">
            <a:off x="1158239" y="2728762"/>
            <a:ext cx="63210" cy="2606357"/>
          </a:xfrm>
          <a:prstGeom prst="bentConnector3">
            <a:avLst>
              <a:gd name="adj1" fmla="val -620517"/>
            </a:avLst>
          </a:prstGeom>
          <a:ln w="57150">
            <a:solidFill>
              <a:srgbClr val="8888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5BB43AAF-1064-45C1-ADB0-3DD683AFC7BF}"/>
              </a:ext>
            </a:extLst>
          </p:cNvPr>
          <p:cNvCxnSpPr>
            <a:cxnSpLocks/>
            <a:stCxn id="16" idx="3"/>
            <a:endCxn id="19" idx="1"/>
          </p:cNvCxnSpPr>
          <p:nvPr/>
        </p:nvCxnSpPr>
        <p:spPr>
          <a:xfrm flipV="1">
            <a:off x="6343048" y="5335119"/>
            <a:ext cx="327259" cy="1"/>
          </a:xfrm>
          <a:prstGeom prst="straightConnector1">
            <a:avLst/>
          </a:prstGeom>
          <a:ln w="76200">
            <a:solidFill>
              <a:srgbClr val="88888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1E5B46D-DFEA-4E9D-A815-A5C8CE725EEE}"/>
              </a:ext>
            </a:extLst>
          </p:cNvPr>
          <p:cNvSpPr txBox="1"/>
          <p:nvPr/>
        </p:nvSpPr>
        <p:spPr>
          <a:xfrm>
            <a:off x="7968370" y="5212242"/>
            <a:ext cx="12970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SQL Server</a:t>
            </a:r>
            <a:endParaRPr lang="ru-RU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F05D26-BCAF-469B-9393-E42192E09010}"/>
              </a:ext>
            </a:extLst>
          </p:cNvPr>
          <p:cNvSpPr txBox="1"/>
          <p:nvPr/>
        </p:nvSpPr>
        <p:spPr>
          <a:xfrm>
            <a:off x="1405864" y="5212242"/>
            <a:ext cx="2073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ScoreboardService</a:t>
            </a:r>
            <a:endParaRPr lang="ru-RU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881269-554C-4582-B283-A3968134F386}"/>
              </a:ext>
            </a:extLst>
          </p:cNvPr>
          <p:cNvSpPr txBox="1"/>
          <p:nvPr/>
        </p:nvSpPr>
        <p:spPr>
          <a:xfrm>
            <a:off x="4158447" y="5212242"/>
            <a:ext cx="1399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CurrentUser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6177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C241F5-7071-4BB0-A485-F0892CCAA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Преимущества разработанного ПО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7011CE5-1661-4A7A-ADAE-D87A5E1EFA04}"/>
              </a:ext>
            </a:extLst>
          </p:cNvPr>
          <p:cNvSpPr/>
          <p:nvPr/>
        </p:nvSpPr>
        <p:spPr>
          <a:xfrm>
            <a:off x="1339166" y="1799927"/>
            <a:ext cx="2206593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EBD90434-6F29-4C50-8D23-9C2AE106D0FF}"/>
              </a:ext>
            </a:extLst>
          </p:cNvPr>
          <p:cNvSpPr/>
          <p:nvPr/>
        </p:nvSpPr>
        <p:spPr>
          <a:xfrm>
            <a:off x="3755118" y="4254370"/>
            <a:ext cx="2206593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2563E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CD4148CF-FBED-43C1-9B5E-39DC5CD74C97}"/>
              </a:ext>
            </a:extLst>
          </p:cNvPr>
          <p:cNvSpPr/>
          <p:nvPr/>
        </p:nvSpPr>
        <p:spPr>
          <a:xfrm>
            <a:off x="6093696" y="1799927"/>
            <a:ext cx="2206593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92EF8-59C4-4C6B-BDB4-097276A9FF0D}"/>
              </a:ext>
            </a:extLst>
          </p:cNvPr>
          <p:cNvSpPr txBox="1"/>
          <p:nvPr/>
        </p:nvSpPr>
        <p:spPr>
          <a:xfrm>
            <a:off x="1581304" y="2253546"/>
            <a:ext cx="1722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Интуитивный интерфейс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9C94DF-46C0-49A3-A488-4D3A0AB035FF}"/>
              </a:ext>
            </a:extLst>
          </p:cNvPr>
          <p:cNvSpPr txBox="1"/>
          <p:nvPr/>
        </p:nvSpPr>
        <p:spPr>
          <a:xfrm>
            <a:off x="3823218" y="4863788"/>
            <a:ext cx="2070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err="1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Многоэкранность</a:t>
            </a:r>
            <a:endParaRPr lang="ru-RU" dirty="0">
              <a:solidFill>
                <a:srgbClr val="FFFFF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ru-RU" dirty="0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36A166D-7E03-4B72-B82E-260A7735DD54}"/>
              </a:ext>
            </a:extLst>
          </p:cNvPr>
          <p:cNvSpPr/>
          <p:nvPr/>
        </p:nvSpPr>
        <p:spPr>
          <a:xfrm>
            <a:off x="8553328" y="4109068"/>
            <a:ext cx="2206593" cy="1588168"/>
          </a:xfrm>
          <a:prstGeom prst="roundRect">
            <a:avLst/>
          </a:prstGeom>
          <a:solidFill>
            <a:srgbClr val="0F0F0F"/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0AA469-F770-460C-8F8A-388166030775}"/>
              </a:ext>
            </a:extLst>
          </p:cNvPr>
          <p:cNvSpPr txBox="1"/>
          <p:nvPr/>
        </p:nvSpPr>
        <p:spPr>
          <a:xfrm>
            <a:off x="6083464" y="2326197"/>
            <a:ext cx="22168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Гибкое управление</a:t>
            </a:r>
          </a:p>
          <a:p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B020B0-B8F2-4932-A0B7-972FD89844A8}"/>
              </a:ext>
            </a:extLst>
          </p:cNvPr>
          <p:cNvSpPr txBox="1"/>
          <p:nvPr/>
        </p:nvSpPr>
        <p:spPr>
          <a:xfrm>
            <a:off x="8919657" y="4725288"/>
            <a:ext cx="16177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Безопасность</a:t>
            </a:r>
          </a:p>
          <a:p>
            <a:endParaRPr lang="ru-RU" dirty="0"/>
          </a:p>
        </p:txBody>
      </p:sp>
      <p:pic>
        <p:nvPicPr>
          <p:cNvPr id="18" name="Рисунок 17" descr="Контур смешного лица со сплошной заливкой">
            <a:extLst>
              <a:ext uri="{FF2B5EF4-FFF2-40B4-BE49-F238E27FC236}">
                <a16:creationId xmlns:a16="http://schemas.microsoft.com/office/drawing/2014/main" id="{A32503DE-0C52-4776-953C-73D828732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2079" y="4069885"/>
            <a:ext cx="1772653" cy="1772653"/>
          </a:xfrm>
          <a:prstGeom prst="rect">
            <a:avLst/>
          </a:prstGeom>
        </p:spPr>
      </p:pic>
      <p:pic>
        <p:nvPicPr>
          <p:cNvPr id="20" name="Рисунок 19" descr="Монитор со сплошной заливкой">
            <a:extLst>
              <a:ext uri="{FF2B5EF4-FFF2-40B4-BE49-F238E27FC236}">
                <a16:creationId xmlns:a16="http://schemas.microsoft.com/office/drawing/2014/main" id="{DA5AFA4E-C97A-4E33-A4B4-9080889D5B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96553" y="1708260"/>
            <a:ext cx="1965158" cy="1965158"/>
          </a:xfrm>
          <a:prstGeom prst="rect">
            <a:avLst/>
          </a:prstGeom>
        </p:spPr>
      </p:pic>
      <p:pic>
        <p:nvPicPr>
          <p:cNvPr id="22" name="Рисунок 21" descr="Блокировка со сплошной заливкой">
            <a:extLst>
              <a:ext uri="{FF2B5EF4-FFF2-40B4-BE49-F238E27FC236}">
                <a16:creationId xmlns:a16="http://schemas.microsoft.com/office/drawing/2014/main" id="{D7328BD0-391A-4CB0-9537-A4C6FA31852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41215" y="1648017"/>
            <a:ext cx="1891988" cy="1891988"/>
          </a:xfrm>
          <a:prstGeom prst="rect">
            <a:avLst/>
          </a:prstGeom>
        </p:spPr>
      </p:pic>
      <p:pic>
        <p:nvPicPr>
          <p:cNvPr id="24" name="Рисунок 23" descr="Кресло-каталка со сплошной заливкой">
            <a:extLst>
              <a:ext uri="{FF2B5EF4-FFF2-40B4-BE49-F238E27FC236}">
                <a16:creationId xmlns:a16="http://schemas.microsoft.com/office/drawing/2014/main" id="{37627446-CA9E-43F8-BB10-00D8239AD4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71193" y="4016825"/>
            <a:ext cx="1772653" cy="177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37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257E47-3FC3-40ED-9E54-093AB5FE9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Заключение</a:t>
            </a:r>
          </a:p>
        </p:txBody>
      </p:sp>
      <p:pic>
        <p:nvPicPr>
          <p:cNvPr id="8" name="Объект 7" descr="В яблочко со сплошной заливкой">
            <a:extLst>
              <a:ext uri="{FF2B5EF4-FFF2-40B4-BE49-F238E27FC236}">
                <a16:creationId xmlns:a16="http://schemas.microsoft.com/office/drawing/2014/main" id="{1A5EB97B-8610-4523-9499-B4DDE80991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8800" y="3544094"/>
            <a:ext cx="914400" cy="914400"/>
          </a:xfrm>
        </p:spPr>
      </p:pic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BF200F7A-284C-4B13-8D75-B782A60DACC3}"/>
              </a:ext>
            </a:extLst>
          </p:cNvPr>
          <p:cNvSpPr/>
          <p:nvPr/>
        </p:nvSpPr>
        <p:spPr>
          <a:xfrm>
            <a:off x="1366786" y="1876927"/>
            <a:ext cx="9424737" cy="4253413"/>
          </a:xfrm>
          <a:prstGeom prst="roundRect">
            <a:avLst/>
          </a:prstGeom>
          <a:solidFill>
            <a:srgbClr val="0F0F0F"/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B61207F-31DB-4A21-8D70-688E618F7F4F}"/>
              </a:ext>
            </a:extLst>
          </p:cNvPr>
          <p:cNvSpPr/>
          <p:nvPr/>
        </p:nvSpPr>
        <p:spPr>
          <a:xfrm>
            <a:off x="1576938" y="2031883"/>
            <a:ext cx="9424737" cy="4253413"/>
          </a:xfrm>
          <a:prstGeom prst="roundRect">
            <a:avLst/>
          </a:prstGeom>
          <a:solidFill>
            <a:srgbClr val="0F0F0F"/>
          </a:solidFill>
          <a:ln w="76200">
            <a:solidFill>
              <a:srgbClr val="DC26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	</a:t>
            </a:r>
            <a:endParaRPr lang="ru-RU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1E9B72-8BD9-45CF-B3F1-E783A15F1E1E}"/>
              </a:ext>
            </a:extLst>
          </p:cNvPr>
          <p:cNvSpPr txBox="1"/>
          <p:nvPr/>
        </p:nvSpPr>
        <p:spPr>
          <a:xfrm>
            <a:off x="2098308" y="3558424"/>
            <a:ext cx="34458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✦ Поставленная цель и все задачи выполнены</a:t>
            </a:r>
            <a:endParaRPr lang="ru-RU" sz="2400" dirty="0">
              <a:solidFill>
                <a:srgbClr val="FFFFFF"/>
              </a:solidFill>
            </a:endParaRPr>
          </a:p>
        </p:txBody>
      </p:sp>
      <p:pic>
        <p:nvPicPr>
          <p:cNvPr id="10" name="Рисунок 9" descr="В яблочко со сплошной заливкой">
            <a:extLst>
              <a:ext uri="{FF2B5EF4-FFF2-40B4-BE49-F238E27FC236}">
                <a16:creationId xmlns:a16="http://schemas.microsoft.com/office/drawing/2014/main" id="{80639D8E-3009-4EC7-9463-0DD1419DFE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5586" y="2713996"/>
            <a:ext cx="2889183" cy="288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43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E0D6210-AF27-46F6-AF58-2C16F8AD2B1F}"/>
              </a:ext>
            </a:extLst>
          </p:cNvPr>
          <p:cNvSpPr txBox="1"/>
          <p:nvPr/>
        </p:nvSpPr>
        <p:spPr>
          <a:xfrm>
            <a:off x="2295473" y="163629"/>
            <a:ext cx="760105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ФЕДЕРАЛЬНОЕ ГОСУДАРСТВЕННОЕ БЮДЖЕТНОЕ ОБРАЗОВАТЕЛЬНОЕ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УЧРЕЖДЕНИЕ ВЫСШЕГО ОБРАЗОВАНИЯ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«САНКТ-ПЕТЕРБУРГСКИЙ ГОСУДАРСТВЕННЫЙ УНИВЕРСИТЕТ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ТЕЛЕКОММУНИКАЦИЙ ИМ. ПРОФ. М.А. БОНЧ-БРУЕВИЧА»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</a:t>
            </a:r>
            <a:r>
              <a:rPr lang="ru-RU" sz="1800" dirty="0" err="1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СПбГУТ</a:t>
            </a: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АРХАНГЕЛЬСКИЙ КОЛЛЕДЖ ТЕЛЕКОММУНИКАЦИЙ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ИМ. Б.Л. РОЗИНГА (ФИЛИАЛ) </a:t>
            </a:r>
            <a:r>
              <a:rPr lang="ru-RU" sz="1800" dirty="0" err="1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СПбГУТ</a:t>
            </a:r>
            <a:b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(АКТ (ф) </a:t>
            </a:r>
            <a:r>
              <a:rPr lang="ru-RU" sz="1800" dirty="0" err="1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СПбГУТ</a:t>
            </a:r>
            <a:r>
              <a:rPr lang="ru-RU" sz="1800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4A6D8E-E6D1-46B0-8004-1E1DB603A127}"/>
              </a:ext>
            </a:extLst>
          </p:cNvPr>
          <p:cNvSpPr txBox="1"/>
          <p:nvPr/>
        </p:nvSpPr>
        <p:spPr>
          <a:xfrm>
            <a:off x="4661150" y="2651374"/>
            <a:ext cx="314451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КУРСОВОЙ</a:t>
            </a:r>
            <a:r>
              <a:rPr lang="ru-RU" sz="2400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ru-RU" sz="2400" b="1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ПРОЕКТ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9F7D4B-269A-4CAE-A54C-677C95976014}"/>
              </a:ext>
            </a:extLst>
          </p:cNvPr>
          <p:cNvSpPr txBox="1"/>
          <p:nvPr/>
        </p:nvSpPr>
        <p:spPr>
          <a:xfrm>
            <a:off x="3169968" y="3164153"/>
            <a:ext cx="61268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РАЗРАБОТКА ПОДСИСТЕМЫ ДЛЯ СУДЕЙСТВА СОРЕВНОВАНИЙ ПО ГРЕКО-РИМСКОЙ И ВОЛЬНОЙ БОРЬБЕ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A39A9E-0779-4845-B4D0-67AF1696BE37}"/>
              </a:ext>
            </a:extLst>
          </p:cNvPr>
          <p:cNvSpPr txBox="1"/>
          <p:nvPr/>
        </p:nvSpPr>
        <p:spPr>
          <a:xfrm>
            <a:off x="8313821" y="4611121"/>
            <a:ext cx="609760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Махин Николай Юрьевич</a:t>
            </a:r>
          </a:p>
          <a:p>
            <a:r>
              <a:rPr lang="ru-RU" sz="1600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Студент ИСПП-21</a:t>
            </a:r>
          </a:p>
          <a:p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ru-RU" dirty="0" err="1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Маломан</a:t>
            </a:r>
            <a:r>
              <a:rPr lang="ru-RU" dirty="0">
                <a:solidFill>
                  <a:srgbClr val="FFD7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Юлия Сергеевна</a:t>
            </a:r>
            <a:br>
              <a:rPr lang="ru-RU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ru-RU" dirty="0">
                <a:solidFill>
                  <a:srgbClr val="FFFFFF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Руководитель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51BDC0-3D1A-490C-92A3-B12AFB650F8E}"/>
              </a:ext>
            </a:extLst>
          </p:cNvPr>
          <p:cNvSpPr txBox="1"/>
          <p:nvPr/>
        </p:nvSpPr>
        <p:spPr>
          <a:xfrm>
            <a:off x="5342021" y="6323798"/>
            <a:ext cx="205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888888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Архангельск 2025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5945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324</Words>
  <Application>Microsoft Office PowerPoint</Application>
  <PresentationFormat>Широкоэкранный</PresentationFormat>
  <Paragraphs>80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Тема Office</vt:lpstr>
      <vt:lpstr>Презентация PowerPoint</vt:lpstr>
      <vt:lpstr>Актуальность</vt:lpstr>
      <vt:lpstr>Целевая аудитория</vt:lpstr>
      <vt:lpstr>Цель</vt:lpstr>
      <vt:lpstr>Задачи</vt:lpstr>
      <vt:lpstr>Средства разработки</vt:lpstr>
      <vt:lpstr>Архитектура системы</vt:lpstr>
      <vt:lpstr>Преимущества разработанного ПО</vt:lpstr>
      <vt:lpstr>Заключение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kokos626@outlook.com</dc:creator>
  <cp:lastModifiedBy>kokos626@outlook.com</cp:lastModifiedBy>
  <cp:revision>13</cp:revision>
  <dcterms:created xsi:type="dcterms:W3CDTF">2025-12-09T03:31:49Z</dcterms:created>
  <dcterms:modified xsi:type="dcterms:W3CDTF">2025-12-09T19:02:37Z</dcterms:modified>
</cp:coreProperties>
</file>