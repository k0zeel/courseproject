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61" r:id="rId5"/>
    <p:sldId id="263" r:id="rId6"/>
    <p:sldId id="262" r:id="rId7"/>
    <p:sldId id="265" r:id="rId8"/>
    <p:sldId id="264" r:id="rId9"/>
    <p:sldId id="259" r:id="rId10"/>
    <p:sldId id="266" r:id="rId11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888888"/>
    <a:srgbClr val="FFD700"/>
    <a:srgbClr val="0F0F0F"/>
    <a:srgbClr val="FFFFFF"/>
    <a:srgbClr val="2563EB"/>
    <a:srgbClr val="DC262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>
      <p:cViewPr varScale="1">
        <p:scale>
          <a:sx n="99" d="100"/>
          <a:sy n="99" d="100"/>
        </p:scale>
        <p:origin x="78" y="4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A89F179-DA51-4CC9-9899-548A11FE42B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EBC98CBA-5B5C-4866-BBC2-C4BD3117511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BFB6AB10-2617-4611-B67B-6521227EB2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278C56-31ED-4501-A806-53DD908F6ECB}" type="datetimeFigureOut">
              <a:rPr lang="ru-RU" smtClean="0"/>
              <a:t>09.12.2025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2E3D5338-7689-44EE-B871-299D516594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22E6717A-A62E-4E8B-B9D4-9D7C52B0A8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5A7251-FD28-492E-90D7-4096DE5BD8C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60585509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14C4748-8E33-4445-9B2B-FEF6789427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89CD1DC4-5C7B-44E7-AAD1-632EB0E4329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C6B8CD7E-57F4-49D5-A125-F7A6DE8CAB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278C56-31ED-4501-A806-53DD908F6ECB}" type="datetimeFigureOut">
              <a:rPr lang="ru-RU" smtClean="0"/>
              <a:t>09.12.2025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13A6BCBA-0B5C-4AB5-A6A6-581E0D7D40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7BEAF647-8CC4-4030-8AE4-1E2939A076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5A7251-FD28-492E-90D7-4096DE5BD8C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47496755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44293942-D178-4264-84CA-A091624616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F568F95E-A069-48E6-8A87-9C6DB84C29F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A5FB8506-DE5A-4234-AB73-9729DEA1427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278C56-31ED-4501-A806-53DD908F6ECB}" type="datetimeFigureOut">
              <a:rPr lang="ru-RU" smtClean="0"/>
              <a:t>09.12.2025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D86E06B2-45AF-4203-9B8C-705D694963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F1174CC7-C996-45BC-9CE8-8363F9D00E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5A7251-FD28-492E-90D7-4096DE5BD8C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5158610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3EE1B28-DDE1-44D3-B875-70D90378B1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F9E09A4A-A4F3-4E0A-ACF7-7E4BFC80481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D4D15F68-2053-440F-B62C-B517307EF4D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2E9C5C22-4744-4D9D-B951-B4D1F7DAC2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278C56-31ED-4501-A806-53DD908F6ECB}" type="datetimeFigureOut">
              <a:rPr lang="ru-RU" smtClean="0"/>
              <a:t>09.12.2025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B9D13BE2-BD41-4D4B-8F19-032F91979B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2C58A4DA-DAFB-4ECF-BDC9-8F7EBECB21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5A7251-FD28-492E-90D7-4096DE5BD8C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82087626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CC95C45-487B-4A52-BDC1-7C896BC59E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971CC23A-1EDD-418F-8058-7F9D2CF380A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75D5D73B-3FE1-42C1-B7F1-CDF72AAE088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1C4FB8A8-9EA1-44B3-9FAD-4ACD98E116C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>
            <a:extLst>
              <a:ext uri="{FF2B5EF4-FFF2-40B4-BE49-F238E27FC236}">
                <a16:creationId xmlns:a16="http://schemas.microsoft.com/office/drawing/2014/main" id="{875A40C1-72FF-4805-A0C8-83B2AA9431C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7" name="Дата 6">
            <a:extLst>
              <a:ext uri="{FF2B5EF4-FFF2-40B4-BE49-F238E27FC236}">
                <a16:creationId xmlns:a16="http://schemas.microsoft.com/office/drawing/2014/main" id="{520D2085-ED76-4B95-AC7D-8A78B27C282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278C56-31ED-4501-A806-53DD908F6ECB}" type="datetimeFigureOut">
              <a:rPr lang="ru-RU" smtClean="0"/>
              <a:t>09.12.2025</a:t>
            </a:fld>
            <a:endParaRPr lang="ru-RU"/>
          </a:p>
        </p:txBody>
      </p:sp>
      <p:sp>
        <p:nvSpPr>
          <p:cNvPr id="8" name="Нижний колонтитул 7">
            <a:extLst>
              <a:ext uri="{FF2B5EF4-FFF2-40B4-BE49-F238E27FC236}">
                <a16:creationId xmlns:a16="http://schemas.microsoft.com/office/drawing/2014/main" id="{2EB4B002-2532-4FE2-AA05-4150F297C2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Номер слайда 8">
            <a:extLst>
              <a:ext uri="{FF2B5EF4-FFF2-40B4-BE49-F238E27FC236}">
                <a16:creationId xmlns:a16="http://schemas.microsoft.com/office/drawing/2014/main" id="{D991144C-C644-4CC6-9E5F-668C861D66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5A7251-FD28-492E-90D7-4096DE5BD8C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9424124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867C982-9845-4266-9C74-57B218BBE7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4CFBEB20-70C5-4CE2-AC34-DE3A851D5C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278C56-31ED-4501-A806-53DD908F6ECB}" type="datetimeFigureOut">
              <a:rPr lang="ru-RU" smtClean="0"/>
              <a:t>09.12.2025</a:t>
            </a:fld>
            <a:endParaRPr lang="ru-RU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22A73C53-09CA-4428-AF8A-2685E15AA0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9EA171A6-B558-476B-B847-7E247D6A6E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5A7251-FD28-492E-90D7-4096DE5BD8C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88491829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>
            <a:extLst>
              <a:ext uri="{FF2B5EF4-FFF2-40B4-BE49-F238E27FC236}">
                <a16:creationId xmlns:a16="http://schemas.microsoft.com/office/drawing/2014/main" id="{3EA83042-1E9A-43C5-A6D0-508795A6D7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278C56-31ED-4501-A806-53DD908F6ECB}" type="datetimeFigureOut">
              <a:rPr lang="ru-RU" smtClean="0"/>
              <a:t>09.12.2025</a:t>
            </a:fld>
            <a:endParaRPr lang="ru-RU"/>
          </a:p>
        </p:txBody>
      </p:sp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id="{1090275E-FA5C-4C25-B431-ED5BADF4A6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E622E80C-1FD9-45A2-AAAD-38375C645E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5A7251-FD28-492E-90D7-4096DE5BD8C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71180803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108EDC3-DA0E-4B28-B2C0-E6CCF70BA8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FC9F605C-75D8-4446-85F6-8B297CA5706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EB2DFC78-E3F9-4085-8763-9EF0E45A64F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62D734B5-7E38-4C00-AADD-44ECC0BD72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278C56-31ED-4501-A806-53DD908F6ECB}" type="datetimeFigureOut">
              <a:rPr lang="ru-RU" smtClean="0"/>
              <a:t>09.12.2025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1699088D-E860-416A-91B2-AA760E6647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6EC6AF1A-F7C0-419A-82C2-7F4E2A3449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5A7251-FD28-492E-90D7-4096DE5BD8C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36706812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C78AD147-C76F-4DDD-B8AE-421E9ED18C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Рисунок 2">
            <a:extLst>
              <a:ext uri="{FF2B5EF4-FFF2-40B4-BE49-F238E27FC236}">
                <a16:creationId xmlns:a16="http://schemas.microsoft.com/office/drawing/2014/main" id="{69CFF979-A469-444C-9262-CDDFF597984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34EDB65C-F102-4E30-86BA-07833CF3B84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D2B0548D-7E57-4E43-8898-19B728E76F7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278C56-31ED-4501-A806-53DD908F6ECB}" type="datetimeFigureOut">
              <a:rPr lang="ru-RU" smtClean="0"/>
              <a:t>09.12.2025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E7598FE1-590E-4853-8F34-0AB4F14F53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5CD5E7F5-D1E6-4F00-9409-0C380B37D4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5A7251-FD28-492E-90D7-4096DE5BD8C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73282536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68F5B92D-5A5D-41FB-AB40-B2A0697DA8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CFA1F6B1-188F-43E3-996A-874247A191A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1783E406-385F-4209-89BF-3B686406B5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278C56-31ED-4501-A806-53DD908F6ECB}" type="datetimeFigureOut">
              <a:rPr lang="ru-RU" smtClean="0"/>
              <a:t>09.12.2025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B7289BFC-AD96-48E2-A2CB-A53B8D26C11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55108BC5-05BC-4406-B946-EB8F4E2922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5A7251-FD28-492E-90D7-4096DE5BD8C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66098066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>
            <a:extLst>
              <a:ext uri="{FF2B5EF4-FFF2-40B4-BE49-F238E27FC236}">
                <a16:creationId xmlns:a16="http://schemas.microsoft.com/office/drawing/2014/main" id="{511D27AA-351E-4DF2-BAE9-69DACAC360B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8E25F2A2-5892-474F-AF15-86639159048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DA5D7C82-D4AF-41C4-BB59-CB4E93A0BC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278C56-31ED-4501-A806-53DD908F6ECB}" type="datetimeFigureOut">
              <a:rPr lang="ru-RU" smtClean="0"/>
              <a:t>09.12.2025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35919FC4-E643-4EFA-B84F-9A69668D8A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062D9E04-FA69-488B-AE3D-D46301B0E8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5A7251-FD28-492E-90D7-4096DE5BD8C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04542697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0F0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A05CEB6-378C-4C85-8759-1D4C5F46CD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ADB68D80-01F5-422C-B678-60FB82FA641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4D6365DB-1AFD-4D18-8F0B-EF0106A12EC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7278C56-31ED-4501-A806-53DD908F6ECB}" type="datetimeFigureOut">
              <a:rPr lang="ru-RU" smtClean="0"/>
              <a:t>09.12.2025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24058AB8-43A7-4F2B-A545-04D191F9F5B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974D460D-8F5C-4DA3-8FC1-3F816C2746E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F5A7251-FD28-492E-90D7-4096DE5BD8C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99317628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3" Type="http://schemas.openxmlformats.org/officeDocument/2006/relationships/image" Target="../media/image4.svg"/><Relationship Id="rId7" Type="http://schemas.openxmlformats.org/officeDocument/2006/relationships/image" Target="../media/image8.sv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png"/><Relationship Id="rId5" Type="http://schemas.openxmlformats.org/officeDocument/2006/relationships/image" Target="../media/image6.svg"/><Relationship Id="rId4" Type="http://schemas.openxmlformats.org/officeDocument/2006/relationships/image" Target="../media/image5.png"/><Relationship Id="rId9" Type="http://schemas.openxmlformats.org/officeDocument/2006/relationships/image" Target="../media/image10.sv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sv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4.svg"/><Relationship Id="rId4" Type="http://schemas.openxmlformats.org/officeDocument/2006/relationships/image" Target="../media/image13.png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CE0D6210-AF27-46F6-AF58-2C16F8AD2B1F}"/>
              </a:ext>
            </a:extLst>
          </p:cNvPr>
          <p:cNvSpPr txBox="1"/>
          <p:nvPr/>
        </p:nvSpPr>
        <p:spPr>
          <a:xfrm>
            <a:off x="2295473" y="163629"/>
            <a:ext cx="7601055" cy="258532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1800" dirty="0">
                <a:solidFill>
                  <a:srgbClr val="888888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ФЕДЕРАЛЬНОЕ ГОСУДАРСТВЕННОЕ БЮДЖЕТНОЕ ОБРАЗОВАТЕЛЬНОЕ</a:t>
            </a:r>
            <a:br>
              <a:rPr lang="ru-RU" sz="1800" dirty="0">
                <a:solidFill>
                  <a:srgbClr val="888888"/>
                </a:solidFill>
                <a:latin typeface="Segoe UI" panose="020B0502040204020203" pitchFamily="34" charset="0"/>
                <a:cs typeface="Segoe UI" panose="020B0502040204020203" pitchFamily="34" charset="0"/>
              </a:rPr>
            </a:br>
            <a:r>
              <a:rPr lang="ru-RU" sz="1800" dirty="0">
                <a:solidFill>
                  <a:srgbClr val="888888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УЧРЕЖДЕНИЕ ВЫСШЕГО ОБРАЗОВАНИЯ</a:t>
            </a:r>
            <a:br>
              <a:rPr lang="ru-RU" sz="1800" dirty="0">
                <a:solidFill>
                  <a:srgbClr val="888888"/>
                </a:solidFill>
                <a:latin typeface="Segoe UI" panose="020B0502040204020203" pitchFamily="34" charset="0"/>
                <a:cs typeface="Segoe UI" panose="020B0502040204020203" pitchFamily="34" charset="0"/>
              </a:rPr>
            </a:br>
            <a:r>
              <a:rPr lang="ru-RU" sz="1800" dirty="0">
                <a:solidFill>
                  <a:srgbClr val="888888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«САНКТ-ПЕТЕРБУРГСКИЙ ГОСУДАРСТВЕННЫЙ УНИВЕРСИТЕТ</a:t>
            </a:r>
            <a:br>
              <a:rPr lang="ru-RU" sz="1800" dirty="0">
                <a:solidFill>
                  <a:srgbClr val="888888"/>
                </a:solidFill>
                <a:latin typeface="Segoe UI" panose="020B0502040204020203" pitchFamily="34" charset="0"/>
                <a:cs typeface="Segoe UI" panose="020B0502040204020203" pitchFamily="34" charset="0"/>
              </a:rPr>
            </a:br>
            <a:r>
              <a:rPr lang="ru-RU" sz="1800" dirty="0">
                <a:solidFill>
                  <a:srgbClr val="888888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ТЕЛЕКОММУНИКАЦИЙ ИМ. ПРОФ. М.А. БОНЧ-БРУЕВИЧА»</a:t>
            </a:r>
            <a:br>
              <a:rPr lang="ru-RU" sz="1800" dirty="0">
                <a:solidFill>
                  <a:srgbClr val="888888"/>
                </a:solidFill>
                <a:latin typeface="Segoe UI" panose="020B0502040204020203" pitchFamily="34" charset="0"/>
                <a:cs typeface="Segoe UI" panose="020B0502040204020203" pitchFamily="34" charset="0"/>
              </a:rPr>
            </a:br>
            <a:r>
              <a:rPr lang="ru-RU" sz="1800" dirty="0">
                <a:solidFill>
                  <a:srgbClr val="888888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(</a:t>
            </a:r>
            <a:r>
              <a:rPr lang="ru-RU" sz="1800" dirty="0" err="1">
                <a:solidFill>
                  <a:srgbClr val="888888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СПбГУТ</a:t>
            </a:r>
            <a:r>
              <a:rPr lang="ru-RU" sz="1800" dirty="0">
                <a:solidFill>
                  <a:srgbClr val="888888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)</a:t>
            </a:r>
            <a:br>
              <a:rPr lang="ru-RU" sz="1800" dirty="0">
                <a:solidFill>
                  <a:srgbClr val="888888"/>
                </a:solidFill>
                <a:latin typeface="Segoe UI" panose="020B0502040204020203" pitchFamily="34" charset="0"/>
                <a:cs typeface="Segoe UI" panose="020B0502040204020203" pitchFamily="34" charset="0"/>
              </a:rPr>
            </a:br>
            <a:r>
              <a:rPr lang="ru-RU" sz="1800" dirty="0">
                <a:solidFill>
                  <a:srgbClr val="888888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АРХАНГЕЛЬСКИЙ КОЛЛЕДЖ ТЕЛЕКОММУНИКАЦИЙ</a:t>
            </a:r>
            <a:br>
              <a:rPr lang="ru-RU" sz="1800" dirty="0">
                <a:solidFill>
                  <a:srgbClr val="888888"/>
                </a:solidFill>
                <a:latin typeface="Segoe UI" panose="020B0502040204020203" pitchFamily="34" charset="0"/>
                <a:cs typeface="Segoe UI" panose="020B0502040204020203" pitchFamily="34" charset="0"/>
              </a:rPr>
            </a:br>
            <a:r>
              <a:rPr lang="ru-RU" sz="1800" dirty="0">
                <a:solidFill>
                  <a:srgbClr val="888888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ИМ. Б.Л. РОЗИНГА (ФИЛИАЛ) </a:t>
            </a:r>
            <a:r>
              <a:rPr lang="ru-RU" sz="1800" dirty="0" err="1">
                <a:solidFill>
                  <a:srgbClr val="888888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СПбГУТ</a:t>
            </a:r>
            <a:br>
              <a:rPr lang="ru-RU" sz="1800" dirty="0">
                <a:solidFill>
                  <a:srgbClr val="888888"/>
                </a:solidFill>
                <a:latin typeface="Segoe UI" panose="020B0502040204020203" pitchFamily="34" charset="0"/>
                <a:cs typeface="Segoe UI" panose="020B0502040204020203" pitchFamily="34" charset="0"/>
              </a:rPr>
            </a:br>
            <a:r>
              <a:rPr lang="ru-RU" sz="1800" dirty="0">
                <a:solidFill>
                  <a:srgbClr val="888888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(АКТ (ф) </a:t>
            </a:r>
            <a:r>
              <a:rPr lang="ru-RU" sz="1800" dirty="0" err="1">
                <a:solidFill>
                  <a:srgbClr val="888888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СПбГУТ</a:t>
            </a:r>
            <a:r>
              <a:rPr lang="ru-RU" sz="1800" dirty="0">
                <a:solidFill>
                  <a:srgbClr val="888888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)</a:t>
            </a:r>
          </a:p>
          <a:p>
            <a:endParaRPr lang="ru-RU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E4A6D8E-E6D1-46B0-8004-1E1DB603A127}"/>
              </a:ext>
            </a:extLst>
          </p:cNvPr>
          <p:cNvSpPr txBox="1"/>
          <p:nvPr/>
        </p:nvSpPr>
        <p:spPr>
          <a:xfrm>
            <a:off x="4661150" y="2651374"/>
            <a:ext cx="3144515" cy="73866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2400" b="1" dirty="0">
                <a:solidFill>
                  <a:srgbClr val="FFD7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КУРСОВОЙ</a:t>
            </a:r>
            <a:r>
              <a:rPr lang="ru-RU" sz="2400" dirty="0">
                <a:solidFill>
                  <a:srgbClr val="FFD7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  <a:r>
              <a:rPr lang="ru-RU" sz="2400" b="1" dirty="0">
                <a:solidFill>
                  <a:srgbClr val="FFD7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ПРОЕКТ</a:t>
            </a:r>
          </a:p>
          <a:p>
            <a:endParaRPr lang="ru-RU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89F7D4B-269A-4CAE-A54C-677C95976014}"/>
              </a:ext>
            </a:extLst>
          </p:cNvPr>
          <p:cNvSpPr txBox="1"/>
          <p:nvPr/>
        </p:nvSpPr>
        <p:spPr>
          <a:xfrm>
            <a:off x="3169968" y="3164153"/>
            <a:ext cx="612687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dirty="0">
                <a:solidFill>
                  <a:srgbClr val="FFFFFF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РАЗРАБОТКА ПОДСИСТЕМЫ ДЛЯ СУДЕЙСТВА СОРЕВНОВАНИЙ ПО ГРЕКО-РИМСКОЙ И ВОЛЬНОЙ БОРЬБЕ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FA39A9E-0779-4845-B4D0-67AF1696BE37}"/>
              </a:ext>
            </a:extLst>
          </p:cNvPr>
          <p:cNvSpPr txBox="1"/>
          <p:nvPr/>
        </p:nvSpPr>
        <p:spPr>
          <a:xfrm>
            <a:off x="8313821" y="4611121"/>
            <a:ext cx="6097604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>
                <a:solidFill>
                  <a:srgbClr val="FFD7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Махин Николай Юрьевич</a:t>
            </a:r>
          </a:p>
          <a:p>
            <a:r>
              <a:rPr lang="ru-RU" sz="1600" dirty="0">
                <a:solidFill>
                  <a:srgbClr val="FFFFFF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Студент ИСПП-21</a:t>
            </a:r>
          </a:p>
          <a:p>
            <a:endParaRPr lang="ru-RU" dirty="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r>
              <a:rPr lang="ru-RU" dirty="0" err="1">
                <a:solidFill>
                  <a:srgbClr val="FFD7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Маломан</a:t>
            </a:r>
            <a:r>
              <a:rPr lang="ru-RU" dirty="0">
                <a:solidFill>
                  <a:srgbClr val="FFD7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Юлия Сергеевна</a:t>
            </a:r>
            <a:br>
              <a:rPr lang="ru-RU" dirty="0">
                <a:latin typeface="Segoe UI" panose="020B0502040204020203" pitchFamily="34" charset="0"/>
                <a:cs typeface="Segoe UI" panose="020B0502040204020203" pitchFamily="34" charset="0"/>
              </a:rPr>
            </a:br>
            <a:r>
              <a:rPr lang="ru-RU" dirty="0">
                <a:solidFill>
                  <a:srgbClr val="FFFFFF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Руководитель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6151BDC0-3D1A-490C-92A3-B12AFB650F8E}"/>
              </a:ext>
            </a:extLst>
          </p:cNvPr>
          <p:cNvSpPr txBox="1"/>
          <p:nvPr/>
        </p:nvSpPr>
        <p:spPr>
          <a:xfrm>
            <a:off x="5342021" y="6323798"/>
            <a:ext cx="205024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>
                <a:solidFill>
                  <a:srgbClr val="888888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Архангельск 2025</a:t>
            </a:r>
            <a:endParaRPr lang="ru-RU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754376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CE717C2-2F44-42D3-B168-E2EE4DD7D7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ru-RU" dirty="0">
                <a:solidFill>
                  <a:srgbClr val="FFD7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Актуальность</a:t>
            </a:r>
          </a:p>
        </p:txBody>
      </p:sp>
      <p:sp>
        <p:nvSpPr>
          <p:cNvPr id="4" name="Прямоугольник: скругленные углы 3">
            <a:extLst>
              <a:ext uri="{FF2B5EF4-FFF2-40B4-BE49-F238E27FC236}">
                <a16:creationId xmlns:a16="http://schemas.microsoft.com/office/drawing/2014/main" id="{29BDB1D8-6A95-4397-AC77-73F1AB65A90E}"/>
              </a:ext>
            </a:extLst>
          </p:cNvPr>
          <p:cNvSpPr/>
          <p:nvPr/>
        </p:nvSpPr>
        <p:spPr>
          <a:xfrm>
            <a:off x="1703671" y="5467150"/>
            <a:ext cx="9115125" cy="943276"/>
          </a:xfrm>
          <a:prstGeom prst="roundRect">
            <a:avLst/>
          </a:prstGeom>
          <a:solidFill>
            <a:srgbClr val="0F0F0F"/>
          </a:solidFill>
          <a:ln w="76200">
            <a:solidFill>
              <a:srgbClr val="FFD700"/>
            </a:solidFill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2000" dirty="0"/>
              <a:t>✦ </a:t>
            </a:r>
            <a:r>
              <a:rPr lang="ru-RU" sz="2000" dirty="0">
                <a:solidFill>
                  <a:srgbClr val="FFFFFF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Рост популярности борьбы </a:t>
            </a:r>
          </a:p>
        </p:txBody>
      </p:sp>
      <p:sp>
        <p:nvSpPr>
          <p:cNvPr id="8" name="Прямоугольник: скругленные углы 7">
            <a:extLst>
              <a:ext uri="{FF2B5EF4-FFF2-40B4-BE49-F238E27FC236}">
                <a16:creationId xmlns:a16="http://schemas.microsoft.com/office/drawing/2014/main" id="{A1E85E59-EFF3-48F5-ADB4-894AC5F440E9}"/>
              </a:ext>
            </a:extLst>
          </p:cNvPr>
          <p:cNvSpPr/>
          <p:nvPr/>
        </p:nvSpPr>
        <p:spPr>
          <a:xfrm>
            <a:off x="5218496" y="1660259"/>
            <a:ext cx="5390148" cy="3371249"/>
          </a:xfrm>
          <a:prstGeom prst="roundRect">
            <a:avLst/>
          </a:prstGeom>
          <a:solidFill>
            <a:srgbClr val="0F0F0F"/>
          </a:solidFill>
          <a:ln w="762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9" name="Прямоугольник: скругленные углы 8">
            <a:extLst>
              <a:ext uri="{FF2B5EF4-FFF2-40B4-BE49-F238E27FC236}">
                <a16:creationId xmlns:a16="http://schemas.microsoft.com/office/drawing/2014/main" id="{842EAD37-A900-4EA8-93EE-BBB0736E57DF}"/>
              </a:ext>
            </a:extLst>
          </p:cNvPr>
          <p:cNvSpPr/>
          <p:nvPr/>
        </p:nvSpPr>
        <p:spPr>
          <a:xfrm>
            <a:off x="5428648" y="1815215"/>
            <a:ext cx="5390148" cy="3371249"/>
          </a:xfrm>
          <a:prstGeom prst="roundRect">
            <a:avLst/>
          </a:prstGeom>
          <a:solidFill>
            <a:srgbClr val="0F0F0F"/>
          </a:solidFill>
          <a:ln w="76200">
            <a:solidFill>
              <a:srgbClr val="DC262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ru-RU" dirty="0"/>
              <a:t>	✦ Проблема ручного судейства</a:t>
            </a:r>
          </a:p>
          <a:p>
            <a:r>
              <a:rPr lang="ru-RU" dirty="0"/>
              <a:t>Высокая вероятность ошибок при подсчёте очков</a:t>
            </a:r>
          </a:p>
          <a:p>
            <a:r>
              <a:rPr lang="ru-RU" dirty="0"/>
              <a:t>Задержки при фиксации результатов</a:t>
            </a:r>
          </a:p>
          <a:p>
            <a:r>
              <a:rPr lang="ru-RU" dirty="0"/>
              <a:t>Сложность синхронизации данных между судьями</a:t>
            </a:r>
          </a:p>
          <a:p>
            <a:r>
              <a:rPr lang="ru-RU" dirty="0"/>
              <a:t>	✦ Цифровизация спорта</a:t>
            </a:r>
          </a:p>
          <a:p>
            <a:r>
              <a:rPr lang="ru-RU" dirty="0"/>
              <a:t>Переход от бумажных протоколов к электронным системам</a:t>
            </a:r>
          </a:p>
          <a:p>
            <a:r>
              <a:rPr lang="ru-RU" dirty="0"/>
              <a:t>Требования федераций к автоматизации процессов</a:t>
            </a:r>
          </a:p>
          <a:p>
            <a:r>
              <a:rPr lang="ru-RU" dirty="0"/>
              <a:t>Интеграция с базами данных спортсменов</a:t>
            </a:r>
          </a:p>
        </p:txBody>
      </p:sp>
      <p:pic>
        <p:nvPicPr>
          <p:cNvPr id="11" name="Рисунок 10" descr="Контрольный список со сплошной заливкой">
            <a:extLst>
              <a:ext uri="{FF2B5EF4-FFF2-40B4-BE49-F238E27FC236}">
                <a16:creationId xmlns:a16="http://schemas.microsoft.com/office/drawing/2014/main" id="{36107FCB-3821-4FDE-AB5B-6C4755D16A4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024815" y="1971374"/>
            <a:ext cx="2448525" cy="24485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9170894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3000B77D-952F-4844-8BD0-CF9E342307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ru-RU" dirty="0">
                <a:solidFill>
                  <a:srgbClr val="FFD7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Целевая аудитория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0C48682F-2F89-45DF-87FC-D7512CDD4C4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368617" y="1979629"/>
            <a:ext cx="10515600" cy="4351338"/>
          </a:xfrm>
        </p:spPr>
        <p:txBody>
          <a:bodyPr/>
          <a:lstStyle/>
          <a:p>
            <a:pPr marL="0" indent="0">
              <a:buNone/>
            </a:pPr>
            <a:r>
              <a:rPr lang="ru-RU" dirty="0">
                <a:solidFill>
                  <a:srgbClr val="FFFFFF"/>
                </a:solidFill>
              </a:rPr>
              <a:t>✦</a:t>
            </a:r>
            <a:r>
              <a:rPr lang="ru-RU" dirty="0">
                <a:solidFill>
                  <a:srgbClr val="FFFFFF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Судьи</a:t>
            </a:r>
          </a:p>
          <a:p>
            <a:pPr marL="0" indent="0">
              <a:buNone/>
            </a:pPr>
            <a:endParaRPr lang="ru-RU" dirty="0">
              <a:solidFill>
                <a:srgbClr val="FFFFFF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marL="0" indent="0">
              <a:buNone/>
            </a:pPr>
            <a:r>
              <a:rPr lang="ru-RU" dirty="0">
                <a:solidFill>
                  <a:srgbClr val="FFFFFF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✦ Организаторы</a:t>
            </a:r>
          </a:p>
          <a:p>
            <a:pPr marL="0" indent="0">
              <a:buNone/>
            </a:pPr>
            <a:endParaRPr lang="ru-RU" dirty="0">
              <a:solidFill>
                <a:srgbClr val="FFFFFF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marL="0" indent="0">
              <a:buNone/>
            </a:pPr>
            <a:r>
              <a:rPr lang="ru-RU" dirty="0">
                <a:solidFill>
                  <a:srgbClr val="FFFFFF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✦ Зрители</a:t>
            </a:r>
          </a:p>
          <a:p>
            <a:pPr marL="0" indent="0">
              <a:buNone/>
            </a:pPr>
            <a:endParaRPr lang="ru-RU" dirty="0">
              <a:solidFill>
                <a:srgbClr val="FFFFFF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marL="0" indent="0">
              <a:buNone/>
            </a:pPr>
            <a:r>
              <a:rPr lang="ru-RU" dirty="0">
                <a:solidFill>
                  <a:srgbClr val="FFFFFF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✦ Тренеры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1A198F9-99FA-42F7-8C00-06D5674B4AB9}"/>
              </a:ext>
            </a:extLst>
          </p:cNvPr>
          <p:cNvSpPr txBox="1"/>
          <p:nvPr/>
        </p:nvSpPr>
        <p:spPr>
          <a:xfrm>
            <a:off x="7892717" y="3679257"/>
            <a:ext cx="1722921" cy="11079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6600" dirty="0"/>
              <a:t>👥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178E7C5-7C94-4589-B3E7-D45985EFEEA1}"/>
              </a:ext>
            </a:extLst>
          </p:cNvPr>
          <p:cNvSpPr txBox="1"/>
          <p:nvPr/>
        </p:nvSpPr>
        <p:spPr>
          <a:xfrm>
            <a:off x="7892717" y="4813086"/>
            <a:ext cx="1343638" cy="110799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6600" dirty="0"/>
              <a:t>🎓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D0D1139-3B6D-495E-B567-AA64208CAD65}"/>
              </a:ext>
            </a:extLst>
          </p:cNvPr>
          <p:cNvSpPr txBox="1"/>
          <p:nvPr/>
        </p:nvSpPr>
        <p:spPr>
          <a:xfrm>
            <a:off x="7980081" y="2718078"/>
            <a:ext cx="1168910" cy="110799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6600" dirty="0"/>
              <a:t>👨‍💼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26A62FD-DFC0-42AA-85FF-958A70574A64}"/>
              </a:ext>
            </a:extLst>
          </p:cNvPr>
          <p:cNvSpPr txBox="1"/>
          <p:nvPr/>
        </p:nvSpPr>
        <p:spPr>
          <a:xfrm>
            <a:off x="7892717" y="1581545"/>
            <a:ext cx="1346844" cy="110799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6600" dirty="0"/>
              <a:t>🏅</a:t>
            </a:r>
          </a:p>
        </p:txBody>
      </p:sp>
    </p:spTree>
    <p:extLst>
      <p:ext uri="{BB962C8B-B14F-4D97-AF65-F5344CB8AC3E}">
        <p14:creationId xmlns:p14="http://schemas.microsoft.com/office/powerpoint/2010/main" val="160547152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3000B77D-952F-4844-8BD0-CF9E342307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ru-RU" dirty="0">
                <a:solidFill>
                  <a:srgbClr val="FFD7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Цель</a:t>
            </a:r>
          </a:p>
        </p:txBody>
      </p:sp>
      <p:sp>
        <p:nvSpPr>
          <p:cNvPr id="4" name="Прямоугольник: скругленные углы 3">
            <a:extLst>
              <a:ext uri="{FF2B5EF4-FFF2-40B4-BE49-F238E27FC236}">
                <a16:creationId xmlns:a16="http://schemas.microsoft.com/office/drawing/2014/main" id="{3B2FF4E0-B7F0-409F-973E-2D038D06F052}"/>
              </a:ext>
            </a:extLst>
          </p:cNvPr>
          <p:cNvSpPr/>
          <p:nvPr/>
        </p:nvSpPr>
        <p:spPr>
          <a:xfrm>
            <a:off x="1366786" y="1876927"/>
            <a:ext cx="9424737" cy="4253413"/>
          </a:xfrm>
          <a:prstGeom prst="roundRect">
            <a:avLst/>
          </a:prstGeom>
          <a:solidFill>
            <a:srgbClr val="0F0F0F"/>
          </a:solidFill>
          <a:ln w="762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" name="Прямоугольник: скругленные углы 4">
            <a:extLst>
              <a:ext uri="{FF2B5EF4-FFF2-40B4-BE49-F238E27FC236}">
                <a16:creationId xmlns:a16="http://schemas.microsoft.com/office/drawing/2014/main" id="{3BB2A0D3-A7E6-40AA-930C-75596C1E3508}"/>
              </a:ext>
            </a:extLst>
          </p:cNvPr>
          <p:cNvSpPr/>
          <p:nvPr/>
        </p:nvSpPr>
        <p:spPr>
          <a:xfrm>
            <a:off x="1576938" y="2031883"/>
            <a:ext cx="9424737" cy="4253413"/>
          </a:xfrm>
          <a:prstGeom prst="roundRect">
            <a:avLst/>
          </a:prstGeom>
          <a:solidFill>
            <a:srgbClr val="0F0F0F"/>
          </a:solidFill>
          <a:ln w="76200">
            <a:solidFill>
              <a:srgbClr val="DC262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	</a:t>
            </a:r>
            <a:r>
              <a:rPr lang="ru-RU" sz="2400" dirty="0">
                <a:latin typeface="Segoe UI" panose="020B0502040204020203" pitchFamily="34" charset="0"/>
                <a:cs typeface="Segoe UI" panose="020B0502040204020203" pitchFamily="34" charset="0"/>
              </a:rPr>
              <a:t>✦ Разработать оконное приложение для судейства и проведения соревнований по греко-римской и вольной борьбе.</a:t>
            </a:r>
          </a:p>
        </p:txBody>
      </p:sp>
    </p:spTree>
    <p:extLst>
      <p:ext uri="{BB962C8B-B14F-4D97-AF65-F5344CB8AC3E}">
        <p14:creationId xmlns:p14="http://schemas.microsoft.com/office/powerpoint/2010/main" val="9599075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496C32E2-0C03-43EA-89E2-73EA90B709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ru-RU" dirty="0">
                <a:solidFill>
                  <a:srgbClr val="FFD7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Задачи</a:t>
            </a:r>
          </a:p>
        </p:txBody>
      </p:sp>
      <p:sp>
        <p:nvSpPr>
          <p:cNvPr id="4" name="Прямоугольник: скругленные углы 3">
            <a:extLst>
              <a:ext uri="{FF2B5EF4-FFF2-40B4-BE49-F238E27FC236}">
                <a16:creationId xmlns:a16="http://schemas.microsoft.com/office/drawing/2014/main" id="{6217C814-EB2D-4E40-AF2B-2A04EF441420}"/>
              </a:ext>
            </a:extLst>
          </p:cNvPr>
          <p:cNvSpPr/>
          <p:nvPr/>
        </p:nvSpPr>
        <p:spPr>
          <a:xfrm>
            <a:off x="568692" y="1716178"/>
            <a:ext cx="5047648" cy="634316"/>
          </a:xfrm>
          <a:prstGeom prst="roundRect">
            <a:avLst/>
          </a:prstGeom>
          <a:solidFill>
            <a:srgbClr val="0F0F0F"/>
          </a:solidFill>
          <a:ln w="762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" name="Прямоугольник: скругленные углы 4">
            <a:extLst>
              <a:ext uri="{FF2B5EF4-FFF2-40B4-BE49-F238E27FC236}">
                <a16:creationId xmlns:a16="http://schemas.microsoft.com/office/drawing/2014/main" id="{7B4E334B-36CC-4601-BC3B-66F0E8939A9C}"/>
              </a:ext>
            </a:extLst>
          </p:cNvPr>
          <p:cNvSpPr/>
          <p:nvPr/>
        </p:nvSpPr>
        <p:spPr>
          <a:xfrm>
            <a:off x="778844" y="1871134"/>
            <a:ext cx="5047648" cy="634316"/>
          </a:xfrm>
          <a:prstGeom prst="roundRect">
            <a:avLst/>
          </a:prstGeom>
          <a:solidFill>
            <a:srgbClr val="0F0F0F"/>
          </a:solidFill>
          <a:ln w="76200">
            <a:solidFill>
              <a:srgbClr val="DC262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ru-RU" dirty="0"/>
              <a:t>	</a:t>
            </a:r>
            <a:r>
              <a:rPr lang="ru-RU" dirty="0">
                <a:latin typeface="Segoe UI" panose="020B0502040204020203" pitchFamily="34" charset="0"/>
                <a:cs typeface="Segoe UI" panose="020B0502040204020203" pitchFamily="34" charset="0"/>
              </a:rPr>
              <a:t>✦ Проектирование интерфейса</a:t>
            </a:r>
          </a:p>
        </p:txBody>
      </p:sp>
      <p:sp>
        <p:nvSpPr>
          <p:cNvPr id="6" name="Прямоугольник: скругленные углы 5">
            <a:extLst>
              <a:ext uri="{FF2B5EF4-FFF2-40B4-BE49-F238E27FC236}">
                <a16:creationId xmlns:a16="http://schemas.microsoft.com/office/drawing/2014/main" id="{A4470F92-5E4C-4A84-A829-870E1B89C97F}"/>
              </a:ext>
            </a:extLst>
          </p:cNvPr>
          <p:cNvSpPr/>
          <p:nvPr/>
        </p:nvSpPr>
        <p:spPr>
          <a:xfrm>
            <a:off x="6365508" y="4312465"/>
            <a:ext cx="5047648" cy="634316"/>
          </a:xfrm>
          <a:prstGeom prst="roundRect">
            <a:avLst/>
          </a:prstGeom>
          <a:solidFill>
            <a:srgbClr val="0F0F0F"/>
          </a:solidFill>
          <a:ln w="762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" name="Прямоугольник: скругленные углы 6">
            <a:extLst>
              <a:ext uri="{FF2B5EF4-FFF2-40B4-BE49-F238E27FC236}">
                <a16:creationId xmlns:a16="http://schemas.microsoft.com/office/drawing/2014/main" id="{E0E7B523-AA3D-4155-BCF5-934C358E99EE}"/>
              </a:ext>
            </a:extLst>
          </p:cNvPr>
          <p:cNvSpPr/>
          <p:nvPr/>
        </p:nvSpPr>
        <p:spPr>
          <a:xfrm>
            <a:off x="6575660" y="4467421"/>
            <a:ext cx="5047648" cy="634316"/>
          </a:xfrm>
          <a:prstGeom prst="roundRect">
            <a:avLst/>
          </a:prstGeom>
          <a:solidFill>
            <a:srgbClr val="0F0F0F"/>
          </a:solidFill>
          <a:ln w="76200">
            <a:solidFill>
              <a:srgbClr val="DC262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ru-RU" dirty="0"/>
              <a:t>	</a:t>
            </a:r>
            <a:r>
              <a:rPr lang="ru-RU" dirty="0">
                <a:latin typeface="Segoe UI" panose="020B0502040204020203" pitchFamily="34" charset="0"/>
                <a:cs typeface="Segoe UI" panose="020B0502040204020203" pitchFamily="34" charset="0"/>
              </a:rPr>
              <a:t>✦ Система авторизации и 	импорт/экспорт</a:t>
            </a:r>
          </a:p>
        </p:txBody>
      </p:sp>
      <p:sp>
        <p:nvSpPr>
          <p:cNvPr id="12" name="Прямоугольник: скругленные углы 11">
            <a:extLst>
              <a:ext uri="{FF2B5EF4-FFF2-40B4-BE49-F238E27FC236}">
                <a16:creationId xmlns:a16="http://schemas.microsoft.com/office/drawing/2014/main" id="{F9E5B2D3-C1D6-4797-9BAF-F3C218EBA8BD}"/>
              </a:ext>
            </a:extLst>
          </p:cNvPr>
          <p:cNvSpPr/>
          <p:nvPr/>
        </p:nvSpPr>
        <p:spPr>
          <a:xfrm>
            <a:off x="568692" y="3331479"/>
            <a:ext cx="5047648" cy="634316"/>
          </a:xfrm>
          <a:prstGeom prst="roundRect">
            <a:avLst/>
          </a:prstGeom>
          <a:solidFill>
            <a:srgbClr val="0F0F0F"/>
          </a:solidFill>
          <a:ln w="762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3" name="Прямоугольник: скругленные углы 12">
            <a:extLst>
              <a:ext uri="{FF2B5EF4-FFF2-40B4-BE49-F238E27FC236}">
                <a16:creationId xmlns:a16="http://schemas.microsoft.com/office/drawing/2014/main" id="{FED4BAAA-16C2-41EB-9E33-74158F63C564}"/>
              </a:ext>
            </a:extLst>
          </p:cNvPr>
          <p:cNvSpPr/>
          <p:nvPr/>
        </p:nvSpPr>
        <p:spPr>
          <a:xfrm>
            <a:off x="778844" y="3486435"/>
            <a:ext cx="5047648" cy="634316"/>
          </a:xfrm>
          <a:prstGeom prst="roundRect">
            <a:avLst/>
          </a:prstGeom>
          <a:solidFill>
            <a:srgbClr val="0F0F0F"/>
          </a:solidFill>
          <a:ln w="76200">
            <a:solidFill>
              <a:srgbClr val="DC262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ru-RU" dirty="0"/>
              <a:t>	</a:t>
            </a:r>
            <a:r>
              <a:rPr lang="ru-RU" dirty="0">
                <a:latin typeface="Segoe UI" panose="020B0502040204020203" pitchFamily="34" charset="0"/>
                <a:cs typeface="Segoe UI" panose="020B0502040204020203" pitchFamily="34" charset="0"/>
              </a:rPr>
              <a:t>✦ Реализация модуля судейства</a:t>
            </a:r>
          </a:p>
        </p:txBody>
      </p:sp>
      <p:sp>
        <p:nvSpPr>
          <p:cNvPr id="14" name="Прямоугольник: скругленные углы 13">
            <a:extLst>
              <a:ext uri="{FF2B5EF4-FFF2-40B4-BE49-F238E27FC236}">
                <a16:creationId xmlns:a16="http://schemas.microsoft.com/office/drawing/2014/main" id="{E7FA7155-AD39-4819-A7B1-2CA1F44C17B4}"/>
              </a:ext>
            </a:extLst>
          </p:cNvPr>
          <p:cNvSpPr/>
          <p:nvPr/>
        </p:nvSpPr>
        <p:spPr>
          <a:xfrm>
            <a:off x="628048" y="5101737"/>
            <a:ext cx="5047648" cy="634316"/>
          </a:xfrm>
          <a:prstGeom prst="roundRect">
            <a:avLst/>
          </a:prstGeom>
          <a:solidFill>
            <a:srgbClr val="0F0F0F"/>
          </a:solidFill>
          <a:ln w="762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5" name="Прямоугольник: скругленные углы 14">
            <a:extLst>
              <a:ext uri="{FF2B5EF4-FFF2-40B4-BE49-F238E27FC236}">
                <a16:creationId xmlns:a16="http://schemas.microsoft.com/office/drawing/2014/main" id="{E3641CBA-1729-462C-8A21-1EE96098AA4F}"/>
              </a:ext>
            </a:extLst>
          </p:cNvPr>
          <p:cNvSpPr/>
          <p:nvPr/>
        </p:nvSpPr>
        <p:spPr>
          <a:xfrm>
            <a:off x="838200" y="5256693"/>
            <a:ext cx="5047648" cy="634316"/>
          </a:xfrm>
          <a:prstGeom prst="roundRect">
            <a:avLst/>
          </a:prstGeom>
          <a:solidFill>
            <a:srgbClr val="0F0F0F"/>
          </a:solidFill>
          <a:ln w="76200">
            <a:solidFill>
              <a:srgbClr val="DC262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ru-RU" dirty="0"/>
              <a:t>	</a:t>
            </a:r>
            <a:r>
              <a:rPr lang="ru-RU" dirty="0">
                <a:latin typeface="Segoe UI" panose="020B0502040204020203" pitchFamily="34" charset="0"/>
                <a:cs typeface="Segoe UI" panose="020B0502040204020203" pitchFamily="34" charset="0"/>
              </a:rPr>
              <a:t>✦ Создание табло для второго 	монитора</a:t>
            </a:r>
          </a:p>
        </p:txBody>
      </p:sp>
      <p:sp>
        <p:nvSpPr>
          <p:cNvPr id="16" name="Прямоугольник: скругленные углы 15">
            <a:extLst>
              <a:ext uri="{FF2B5EF4-FFF2-40B4-BE49-F238E27FC236}">
                <a16:creationId xmlns:a16="http://schemas.microsoft.com/office/drawing/2014/main" id="{7207653B-9A6E-46DE-BAFC-D63F85484A81}"/>
              </a:ext>
            </a:extLst>
          </p:cNvPr>
          <p:cNvSpPr/>
          <p:nvPr/>
        </p:nvSpPr>
        <p:spPr>
          <a:xfrm>
            <a:off x="6365508" y="2606940"/>
            <a:ext cx="5047648" cy="634316"/>
          </a:xfrm>
          <a:prstGeom prst="roundRect">
            <a:avLst/>
          </a:prstGeom>
          <a:solidFill>
            <a:srgbClr val="0F0F0F"/>
          </a:solidFill>
          <a:ln w="762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7" name="Прямоугольник: скругленные углы 16">
            <a:extLst>
              <a:ext uri="{FF2B5EF4-FFF2-40B4-BE49-F238E27FC236}">
                <a16:creationId xmlns:a16="http://schemas.microsoft.com/office/drawing/2014/main" id="{06FF7D97-BA02-4B4C-A887-AB59507484A3}"/>
              </a:ext>
            </a:extLst>
          </p:cNvPr>
          <p:cNvSpPr/>
          <p:nvPr/>
        </p:nvSpPr>
        <p:spPr>
          <a:xfrm>
            <a:off x="6575660" y="2761896"/>
            <a:ext cx="5047648" cy="634316"/>
          </a:xfrm>
          <a:prstGeom prst="roundRect">
            <a:avLst/>
          </a:prstGeom>
          <a:solidFill>
            <a:srgbClr val="0F0F0F"/>
          </a:solidFill>
          <a:ln w="76200">
            <a:solidFill>
              <a:srgbClr val="DC262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ru-RU" dirty="0"/>
              <a:t>	</a:t>
            </a:r>
            <a:r>
              <a:rPr lang="ru-RU" dirty="0">
                <a:latin typeface="Segoe UI" panose="020B0502040204020203" pitchFamily="34" charset="0"/>
                <a:cs typeface="Segoe UI" panose="020B0502040204020203" pitchFamily="34" charset="0"/>
              </a:rPr>
              <a:t>✦ Разработка и интеграция БД</a:t>
            </a:r>
          </a:p>
        </p:txBody>
      </p:sp>
    </p:spTree>
    <p:extLst>
      <p:ext uri="{BB962C8B-B14F-4D97-AF65-F5344CB8AC3E}">
        <p14:creationId xmlns:p14="http://schemas.microsoft.com/office/powerpoint/2010/main" val="173326378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E287DDA-42DD-4520-99E9-A47EE77281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ru-RU" dirty="0">
                <a:solidFill>
                  <a:srgbClr val="FFD7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Средства разработки</a:t>
            </a:r>
          </a:p>
        </p:txBody>
      </p:sp>
      <p:sp>
        <p:nvSpPr>
          <p:cNvPr id="4" name="Прямоугольник: скругленные углы 3">
            <a:extLst>
              <a:ext uri="{FF2B5EF4-FFF2-40B4-BE49-F238E27FC236}">
                <a16:creationId xmlns:a16="http://schemas.microsoft.com/office/drawing/2014/main" id="{522B2FE0-D500-4A4A-8186-92E79DD4CA2A}"/>
              </a:ext>
            </a:extLst>
          </p:cNvPr>
          <p:cNvSpPr/>
          <p:nvPr/>
        </p:nvSpPr>
        <p:spPr>
          <a:xfrm>
            <a:off x="1158239" y="1809551"/>
            <a:ext cx="9875521" cy="2184934"/>
          </a:xfrm>
          <a:prstGeom prst="roundRect">
            <a:avLst/>
          </a:prstGeom>
          <a:solidFill>
            <a:srgbClr val="0F0F0F"/>
          </a:solidFill>
          <a:ln w="76200">
            <a:solidFill>
              <a:srgbClr val="FFD7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" name="Прямоугольник: скругленные углы 6">
            <a:extLst>
              <a:ext uri="{FF2B5EF4-FFF2-40B4-BE49-F238E27FC236}">
                <a16:creationId xmlns:a16="http://schemas.microsoft.com/office/drawing/2014/main" id="{8EF0EAF7-FE9B-4F3A-993A-96B2D6B3318C}"/>
              </a:ext>
            </a:extLst>
          </p:cNvPr>
          <p:cNvSpPr/>
          <p:nvPr/>
        </p:nvSpPr>
        <p:spPr>
          <a:xfrm>
            <a:off x="1393255" y="2107935"/>
            <a:ext cx="2964582" cy="1588168"/>
          </a:xfrm>
          <a:prstGeom prst="roundRect">
            <a:avLst/>
          </a:prstGeom>
          <a:solidFill>
            <a:srgbClr val="0F0F0F"/>
          </a:solidFill>
          <a:ln w="57150">
            <a:solidFill>
              <a:srgbClr val="DC262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8" name="Прямоугольник: скругленные углы 7">
            <a:extLst>
              <a:ext uri="{FF2B5EF4-FFF2-40B4-BE49-F238E27FC236}">
                <a16:creationId xmlns:a16="http://schemas.microsoft.com/office/drawing/2014/main" id="{8E154B11-1ABC-4725-9539-94C326980A1D}"/>
              </a:ext>
            </a:extLst>
          </p:cNvPr>
          <p:cNvSpPr/>
          <p:nvPr/>
        </p:nvSpPr>
        <p:spPr>
          <a:xfrm>
            <a:off x="4636767" y="2107934"/>
            <a:ext cx="2964582" cy="1588168"/>
          </a:xfrm>
          <a:prstGeom prst="roundRect">
            <a:avLst/>
          </a:prstGeom>
          <a:solidFill>
            <a:srgbClr val="0F0F0F"/>
          </a:solidFill>
          <a:ln w="57150">
            <a:solidFill>
              <a:srgbClr val="2563EB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9" name="Прямоугольник: скругленные углы 8">
            <a:extLst>
              <a:ext uri="{FF2B5EF4-FFF2-40B4-BE49-F238E27FC236}">
                <a16:creationId xmlns:a16="http://schemas.microsoft.com/office/drawing/2014/main" id="{03B129E9-4FC9-48A1-A3E2-2DC57D2CB798}"/>
              </a:ext>
            </a:extLst>
          </p:cNvPr>
          <p:cNvSpPr/>
          <p:nvPr/>
        </p:nvSpPr>
        <p:spPr>
          <a:xfrm>
            <a:off x="7880280" y="2107935"/>
            <a:ext cx="2964582" cy="1588168"/>
          </a:xfrm>
          <a:prstGeom prst="roundRect">
            <a:avLst/>
          </a:prstGeom>
          <a:solidFill>
            <a:srgbClr val="0F0F0F"/>
          </a:solidFill>
          <a:ln w="57150"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3B20F09-4715-442F-8533-ED019D1F9378}"/>
              </a:ext>
            </a:extLst>
          </p:cNvPr>
          <p:cNvSpPr txBox="1"/>
          <p:nvPr/>
        </p:nvSpPr>
        <p:spPr>
          <a:xfrm>
            <a:off x="2153651" y="2578852"/>
            <a:ext cx="144379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dirty="0">
                <a:solidFill>
                  <a:srgbClr val="FFFFFF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Платформа</a:t>
            </a:r>
          </a:p>
          <a:p>
            <a:pPr algn="ctr"/>
            <a:r>
              <a:rPr lang="en-US" dirty="0">
                <a:solidFill>
                  <a:srgbClr val="888888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.NET 8</a:t>
            </a:r>
            <a:endParaRPr lang="ru-RU" dirty="0">
              <a:solidFill>
                <a:srgbClr val="888888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C9D3534-9B22-4A37-97C7-4EC5CFBC5FD9}"/>
              </a:ext>
            </a:extLst>
          </p:cNvPr>
          <p:cNvSpPr txBox="1"/>
          <p:nvPr/>
        </p:nvSpPr>
        <p:spPr>
          <a:xfrm>
            <a:off x="5351729" y="2578852"/>
            <a:ext cx="1444627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dirty="0">
                <a:solidFill>
                  <a:srgbClr val="FFFFFF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Интерфейс</a:t>
            </a:r>
          </a:p>
          <a:p>
            <a:pPr algn="ctr"/>
            <a:r>
              <a:rPr lang="en-US" dirty="0">
                <a:solidFill>
                  <a:srgbClr val="888888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WPF (XAML)</a:t>
            </a:r>
            <a:endParaRPr lang="ru-RU" dirty="0">
              <a:solidFill>
                <a:srgbClr val="888888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endParaRPr lang="ru-RU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8F03D1C-5C1C-4B75-82A7-36947F0ED62C}"/>
              </a:ext>
            </a:extLst>
          </p:cNvPr>
          <p:cNvSpPr txBox="1"/>
          <p:nvPr/>
        </p:nvSpPr>
        <p:spPr>
          <a:xfrm>
            <a:off x="8982498" y="2578852"/>
            <a:ext cx="760144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dirty="0">
                <a:solidFill>
                  <a:srgbClr val="FFFFFF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Язык</a:t>
            </a:r>
          </a:p>
          <a:p>
            <a:pPr algn="ctr"/>
            <a:r>
              <a:rPr lang="en-US" dirty="0">
                <a:solidFill>
                  <a:srgbClr val="888888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C#</a:t>
            </a:r>
            <a:endParaRPr lang="ru-RU" dirty="0">
              <a:solidFill>
                <a:srgbClr val="888888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endParaRPr lang="ru-RU" dirty="0"/>
          </a:p>
        </p:txBody>
      </p:sp>
      <p:sp>
        <p:nvSpPr>
          <p:cNvPr id="13" name="Прямоугольник: скругленные углы 12">
            <a:extLst>
              <a:ext uri="{FF2B5EF4-FFF2-40B4-BE49-F238E27FC236}">
                <a16:creationId xmlns:a16="http://schemas.microsoft.com/office/drawing/2014/main" id="{8A2C7850-1175-4CAD-BF7D-8F03472DA59A}"/>
              </a:ext>
            </a:extLst>
          </p:cNvPr>
          <p:cNvSpPr/>
          <p:nvPr/>
        </p:nvSpPr>
        <p:spPr>
          <a:xfrm>
            <a:off x="1158239" y="4292868"/>
            <a:ext cx="9875521" cy="2184934"/>
          </a:xfrm>
          <a:prstGeom prst="roundRect">
            <a:avLst/>
          </a:prstGeom>
          <a:solidFill>
            <a:srgbClr val="0F0F0F"/>
          </a:solidFill>
          <a:ln w="76200">
            <a:solidFill>
              <a:srgbClr val="FFD7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4" name="Прямоугольник: скругленные углы 13">
            <a:extLst>
              <a:ext uri="{FF2B5EF4-FFF2-40B4-BE49-F238E27FC236}">
                <a16:creationId xmlns:a16="http://schemas.microsoft.com/office/drawing/2014/main" id="{B0E60B60-010C-4D86-BB11-80D473893C18}"/>
              </a:ext>
            </a:extLst>
          </p:cNvPr>
          <p:cNvSpPr/>
          <p:nvPr/>
        </p:nvSpPr>
        <p:spPr>
          <a:xfrm>
            <a:off x="1393255" y="4591252"/>
            <a:ext cx="2964582" cy="1588168"/>
          </a:xfrm>
          <a:prstGeom prst="roundRect">
            <a:avLst/>
          </a:prstGeom>
          <a:solidFill>
            <a:srgbClr val="0F0F0F"/>
          </a:solidFill>
          <a:ln w="57150">
            <a:solidFill>
              <a:srgbClr val="DC262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5" name="Прямоугольник: скругленные углы 14">
            <a:extLst>
              <a:ext uri="{FF2B5EF4-FFF2-40B4-BE49-F238E27FC236}">
                <a16:creationId xmlns:a16="http://schemas.microsoft.com/office/drawing/2014/main" id="{A807C8FA-B36C-4875-8A50-8BFF5431EE15}"/>
              </a:ext>
            </a:extLst>
          </p:cNvPr>
          <p:cNvSpPr/>
          <p:nvPr/>
        </p:nvSpPr>
        <p:spPr>
          <a:xfrm>
            <a:off x="4636767" y="4591251"/>
            <a:ext cx="2964582" cy="1588168"/>
          </a:xfrm>
          <a:prstGeom prst="roundRect">
            <a:avLst/>
          </a:prstGeom>
          <a:solidFill>
            <a:srgbClr val="0F0F0F"/>
          </a:solidFill>
          <a:ln w="57150">
            <a:solidFill>
              <a:srgbClr val="2563EB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6" name="Прямоугольник: скругленные углы 15">
            <a:extLst>
              <a:ext uri="{FF2B5EF4-FFF2-40B4-BE49-F238E27FC236}">
                <a16:creationId xmlns:a16="http://schemas.microsoft.com/office/drawing/2014/main" id="{D779A580-5191-4B82-8D0C-C86C01E08A51}"/>
              </a:ext>
            </a:extLst>
          </p:cNvPr>
          <p:cNvSpPr/>
          <p:nvPr/>
        </p:nvSpPr>
        <p:spPr>
          <a:xfrm>
            <a:off x="7880280" y="4591252"/>
            <a:ext cx="2964582" cy="1588168"/>
          </a:xfrm>
          <a:prstGeom prst="roundRect">
            <a:avLst/>
          </a:prstGeom>
          <a:solidFill>
            <a:srgbClr val="0F0F0F"/>
          </a:solidFill>
          <a:ln w="57150"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8B249ACD-FB1A-43C0-BC57-01EE7213AB10}"/>
              </a:ext>
            </a:extLst>
          </p:cNvPr>
          <p:cNvSpPr txBox="1"/>
          <p:nvPr/>
        </p:nvSpPr>
        <p:spPr>
          <a:xfrm>
            <a:off x="2153651" y="5062169"/>
            <a:ext cx="144379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dirty="0">
                <a:solidFill>
                  <a:srgbClr val="FFFFFF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СУБД</a:t>
            </a:r>
          </a:p>
          <a:p>
            <a:pPr algn="ctr"/>
            <a:r>
              <a:rPr lang="en-US" dirty="0">
                <a:solidFill>
                  <a:srgbClr val="888888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SQL Server</a:t>
            </a:r>
            <a:endParaRPr lang="ru-RU" dirty="0">
              <a:solidFill>
                <a:srgbClr val="888888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19160728-CEBF-4F9B-97B6-2291E46F6193}"/>
              </a:ext>
            </a:extLst>
          </p:cNvPr>
          <p:cNvSpPr txBox="1"/>
          <p:nvPr/>
        </p:nvSpPr>
        <p:spPr>
          <a:xfrm>
            <a:off x="5102015" y="5062169"/>
            <a:ext cx="1944058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>
                <a:solidFill>
                  <a:srgbClr val="FFFFFF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ORM</a:t>
            </a:r>
            <a:endParaRPr lang="ru-RU" dirty="0">
              <a:solidFill>
                <a:srgbClr val="FFFFFF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algn="ctr"/>
            <a:r>
              <a:rPr lang="en-US" dirty="0">
                <a:solidFill>
                  <a:srgbClr val="888888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Entity Framework</a:t>
            </a:r>
            <a:endParaRPr lang="ru-RU" dirty="0">
              <a:solidFill>
                <a:srgbClr val="888888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endParaRPr lang="ru-RU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AC5E681A-30AC-484E-9A6F-26BEECD64F90}"/>
              </a:ext>
            </a:extLst>
          </p:cNvPr>
          <p:cNvSpPr txBox="1"/>
          <p:nvPr/>
        </p:nvSpPr>
        <p:spPr>
          <a:xfrm>
            <a:off x="8544847" y="5062169"/>
            <a:ext cx="1635449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dirty="0">
                <a:solidFill>
                  <a:srgbClr val="FFFFFF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Тестирование</a:t>
            </a:r>
          </a:p>
          <a:p>
            <a:pPr algn="ctr"/>
            <a:r>
              <a:rPr lang="en-US" dirty="0" err="1">
                <a:solidFill>
                  <a:srgbClr val="888888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xUnit</a:t>
            </a:r>
            <a:endParaRPr lang="ru-RU" dirty="0">
              <a:solidFill>
                <a:srgbClr val="888888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64771686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9342ED5-3BFF-48A3-A2D5-BE91D3EF2B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ru-RU" dirty="0">
                <a:solidFill>
                  <a:srgbClr val="FFD7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Архитектура системы</a:t>
            </a:r>
          </a:p>
        </p:txBody>
      </p:sp>
      <p:sp>
        <p:nvSpPr>
          <p:cNvPr id="5" name="Прямоугольник: скругленные углы 4">
            <a:extLst>
              <a:ext uri="{FF2B5EF4-FFF2-40B4-BE49-F238E27FC236}">
                <a16:creationId xmlns:a16="http://schemas.microsoft.com/office/drawing/2014/main" id="{3CFD05E4-4CE4-497E-AFAE-841025BF4208}"/>
              </a:ext>
            </a:extLst>
          </p:cNvPr>
          <p:cNvSpPr/>
          <p:nvPr/>
        </p:nvSpPr>
        <p:spPr>
          <a:xfrm>
            <a:off x="1158239" y="1501543"/>
            <a:ext cx="9640505" cy="2454440"/>
          </a:xfrm>
          <a:prstGeom prst="roundRect">
            <a:avLst/>
          </a:prstGeom>
          <a:solidFill>
            <a:srgbClr val="0F0F0F"/>
          </a:solidFill>
          <a:ln w="76200">
            <a:solidFill>
              <a:srgbClr val="FFD7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" name="Прямоугольник: скругленные углы 5">
            <a:extLst>
              <a:ext uri="{FF2B5EF4-FFF2-40B4-BE49-F238E27FC236}">
                <a16:creationId xmlns:a16="http://schemas.microsoft.com/office/drawing/2014/main" id="{B2961C5E-21C8-4DE8-9976-791CE4D738B4}"/>
              </a:ext>
            </a:extLst>
          </p:cNvPr>
          <p:cNvSpPr/>
          <p:nvPr/>
        </p:nvSpPr>
        <p:spPr>
          <a:xfrm>
            <a:off x="1339166" y="1799927"/>
            <a:ext cx="2206593" cy="1588168"/>
          </a:xfrm>
          <a:prstGeom prst="roundRect">
            <a:avLst/>
          </a:prstGeom>
          <a:solidFill>
            <a:srgbClr val="0F0F0F"/>
          </a:solidFill>
          <a:ln w="57150">
            <a:solidFill>
              <a:srgbClr val="DC262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7" name="Прямоугольник: скругленные углы 6">
            <a:extLst>
              <a:ext uri="{FF2B5EF4-FFF2-40B4-BE49-F238E27FC236}">
                <a16:creationId xmlns:a16="http://schemas.microsoft.com/office/drawing/2014/main" id="{686A7AAA-93E5-435A-A4EC-21B2649F6299}"/>
              </a:ext>
            </a:extLst>
          </p:cNvPr>
          <p:cNvSpPr/>
          <p:nvPr/>
        </p:nvSpPr>
        <p:spPr>
          <a:xfrm>
            <a:off x="3727817" y="1799927"/>
            <a:ext cx="2206593" cy="1588168"/>
          </a:xfrm>
          <a:prstGeom prst="roundRect">
            <a:avLst/>
          </a:prstGeom>
          <a:solidFill>
            <a:srgbClr val="0F0F0F"/>
          </a:solidFill>
          <a:ln w="57150">
            <a:solidFill>
              <a:srgbClr val="2563EB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8" name="Прямоугольник: скругленные углы 7">
            <a:extLst>
              <a:ext uri="{FF2B5EF4-FFF2-40B4-BE49-F238E27FC236}">
                <a16:creationId xmlns:a16="http://schemas.microsoft.com/office/drawing/2014/main" id="{519136E4-0D94-4412-B3C5-89A3F2E120F8}"/>
              </a:ext>
            </a:extLst>
          </p:cNvPr>
          <p:cNvSpPr/>
          <p:nvPr/>
        </p:nvSpPr>
        <p:spPr>
          <a:xfrm>
            <a:off x="6093696" y="1799927"/>
            <a:ext cx="2206593" cy="1588168"/>
          </a:xfrm>
          <a:prstGeom prst="roundRect">
            <a:avLst/>
          </a:prstGeom>
          <a:solidFill>
            <a:srgbClr val="0F0F0F"/>
          </a:solidFill>
          <a:ln w="57150"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CD71323-6765-4D29-BAF9-C5B1FF6435D0}"/>
              </a:ext>
            </a:extLst>
          </p:cNvPr>
          <p:cNvSpPr txBox="1"/>
          <p:nvPr/>
        </p:nvSpPr>
        <p:spPr>
          <a:xfrm>
            <a:off x="1793920" y="2355074"/>
            <a:ext cx="123803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rgbClr val="FFFFFF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Login Window</a:t>
            </a:r>
            <a:endParaRPr lang="ru-RU" dirty="0">
              <a:solidFill>
                <a:srgbClr val="FFFFFF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9522789-07C5-4E99-B108-93869F974F3A}"/>
              </a:ext>
            </a:extLst>
          </p:cNvPr>
          <p:cNvSpPr txBox="1"/>
          <p:nvPr/>
        </p:nvSpPr>
        <p:spPr>
          <a:xfrm>
            <a:off x="4320784" y="2287044"/>
            <a:ext cx="1075262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rgbClr val="FFFFFF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Main Window</a:t>
            </a:r>
            <a:endParaRPr lang="ru-RU" dirty="0">
              <a:solidFill>
                <a:srgbClr val="FFFFFF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endParaRPr lang="ru-RU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FBFBE8E-DC13-4499-8BA2-E6D2DA4DDFB9}"/>
              </a:ext>
            </a:extLst>
          </p:cNvPr>
          <p:cNvSpPr txBox="1"/>
          <p:nvPr/>
        </p:nvSpPr>
        <p:spPr>
          <a:xfrm>
            <a:off x="8982498" y="2270844"/>
            <a:ext cx="565789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dirty="0">
                <a:solidFill>
                  <a:srgbClr val="FFFFFF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Язык</a:t>
            </a:r>
          </a:p>
          <a:p>
            <a:pPr algn="ctr"/>
            <a:r>
              <a:rPr lang="en-US" dirty="0">
                <a:solidFill>
                  <a:srgbClr val="888888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C#</a:t>
            </a:r>
            <a:endParaRPr lang="ru-RU" dirty="0">
              <a:solidFill>
                <a:srgbClr val="888888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endParaRPr lang="ru-RU" dirty="0"/>
          </a:p>
        </p:txBody>
      </p:sp>
      <p:sp>
        <p:nvSpPr>
          <p:cNvPr id="12" name="Прямоугольник: скругленные углы 11">
            <a:extLst>
              <a:ext uri="{FF2B5EF4-FFF2-40B4-BE49-F238E27FC236}">
                <a16:creationId xmlns:a16="http://schemas.microsoft.com/office/drawing/2014/main" id="{48D35B23-CCBD-4EED-9AAF-8294F4BD8291}"/>
              </a:ext>
            </a:extLst>
          </p:cNvPr>
          <p:cNvSpPr/>
          <p:nvPr/>
        </p:nvSpPr>
        <p:spPr>
          <a:xfrm>
            <a:off x="8447450" y="1802336"/>
            <a:ext cx="2206593" cy="1588168"/>
          </a:xfrm>
          <a:prstGeom prst="roundRect">
            <a:avLst/>
          </a:prstGeom>
          <a:solidFill>
            <a:srgbClr val="0F0F0F"/>
          </a:solidFill>
          <a:ln w="57150"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55263EF-80E8-411C-8A78-F3818936B640}"/>
              </a:ext>
            </a:extLst>
          </p:cNvPr>
          <p:cNvSpPr txBox="1"/>
          <p:nvPr/>
        </p:nvSpPr>
        <p:spPr>
          <a:xfrm>
            <a:off x="6546576" y="2405597"/>
            <a:ext cx="134581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FFFF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Scoreboard</a:t>
            </a:r>
            <a:endParaRPr lang="ru-RU" dirty="0">
              <a:solidFill>
                <a:srgbClr val="FFFFFF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endParaRPr lang="ru-RU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08625B0-5C8B-4343-90BD-0557D626A637}"/>
              </a:ext>
            </a:extLst>
          </p:cNvPr>
          <p:cNvSpPr txBox="1"/>
          <p:nvPr/>
        </p:nvSpPr>
        <p:spPr>
          <a:xfrm>
            <a:off x="8982498" y="2328583"/>
            <a:ext cx="112742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FFFF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Database</a:t>
            </a:r>
          </a:p>
          <a:p>
            <a:r>
              <a:rPr lang="en-US" dirty="0">
                <a:solidFill>
                  <a:srgbClr val="FFFFFF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Window</a:t>
            </a:r>
            <a:endParaRPr lang="ru-RU" dirty="0">
              <a:solidFill>
                <a:srgbClr val="FFFFFF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endParaRPr lang="ru-RU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0CA2CD6-6CD5-4587-B1F1-3EBEF3EFF6AC}"/>
              </a:ext>
            </a:extLst>
          </p:cNvPr>
          <p:cNvSpPr txBox="1"/>
          <p:nvPr/>
        </p:nvSpPr>
        <p:spPr>
          <a:xfrm>
            <a:off x="4503998" y="3497334"/>
            <a:ext cx="27154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>
                <a:solidFill>
                  <a:srgbClr val="FFFFFF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Уровень представления</a:t>
            </a:r>
          </a:p>
        </p:txBody>
      </p:sp>
      <p:sp>
        <p:nvSpPr>
          <p:cNvPr id="16" name="Прямоугольник: скругленные углы 15">
            <a:extLst>
              <a:ext uri="{FF2B5EF4-FFF2-40B4-BE49-F238E27FC236}">
                <a16:creationId xmlns:a16="http://schemas.microsoft.com/office/drawing/2014/main" id="{C36D3598-7CC2-4FFD-B554-9FDA65FADBE4}"/>
              </a:ext>
            </a:extLst>
          </p:cNvPr>
          <p:cNvSpPr/>
          <p:nvPr/>
        </p:nvSpPr>
        <p:spPr>
          <a:xfrm>
            <a:off x="1221449" y="4177364"/>
            <a:ext cx="5121599" cy="2315511"/>
          </a:xfrm>
          <a:prstGeom prst="roundRect">
            <a:avLst/>
          </a:prstGeom>
          <a:solidFill>
            <a:srgbClr val="0F0F0F"/>
          </a:solidFill>
          <a:ln w="76200">
            <a:solidFill>
              <a:srgbClr val="FFD7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7" name="Прямоугольник: скругленные углы 16">
            <a:extLst>
              <a:ext uri="{FF2B5EF4-FFF2-40B4-BE49-F238E27FC236}">
                <a16:creationId xmlns:a16="http://schemas.microsoft.com/office/drawing/2014/main" id="{9C56D542-627B-4DFC-8E64-5E55EB4F4505}"/>
              </a:ext>
            </a:extLst>
          </p:cNvPr>
          <p:cNvSpPr/>
          <p:nvPr/>
        </p:nvSpPr>
        <p:spPr>
          <a:xfrm>
            <a:off x="1393377" y="4664404"/>
            <a:ext cx="2206593" cy="1588168"/>
          </a:xfrm>
          <a:prstGeom prst="roundRect">
            <a:avLst/>
          </a:prstGeom>
          <a:solidFill>
            <a:srgbClr val="0F0F0F"/>
          </a:solidFill>
          <a:ln w="57150">
            <a:solidFill>
              <a:srgbClr val="DC262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8" name="Прямоугольник: скругленные углы 17">
            <a:extLst>
              <a:ext uri="{FF2B5EF4-FFF2-40B4-BE49-F238E27FC236}">
                <a16:creationId xmlns:a16="http://schemas.microsoft.com/office/drawing/2014/main" id="{A072EE18-2F73-46D4-918A-D2B2CAF878DF}"/>
              </a:ext>
            </a:extLst>
          </p:cNvPr>
          <p:cNvSpPr/>
          <p:nvPr/>
        </p:nvSpPr>
        <p:spPr>
          <a:xfrm>
            <a:off x="3771898" y="4664404"/>
            <a:ext cx="2206593" cy="1588168"/>
          </a:xfrm>
          <a:prstGeom prst="roundRect">
            <a:avLst/>
          </a:prstGeom>
          <a:solidFill>
            <a:srgbClr val="0F0F0F"/>
          </a:solidFill>
          <a:ln w="57150">
            <a:solidFill>
              <a:srgbClr val="2563EB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9" name="Прямоугольник: скругленные углы 18">
            <a:extLst>
              <a:ext uri="{FF2B5EF4-FFF2-40B4-BE49-F238E27FC236}">
                <a16:creationId xmlns:a16="http://schemas.microsoft.com/office/drawing/2014/main" id="{9CA8E9C0-5D1D-444B-A132-1EDA96528220}"/>
              </a:ext>
            </a:extLst>
          </p:cNvPr>
          <p:cNvSpPr/>
          <p:nvPr/>
        </p:nvSpPr>
        <p:spPr>
          <a:xfrm>
            <a:off x="6670307" y="4213943"/>
            <a:ext cx="3983736" cy="2242351"/>
          </a:xfrm>
          <a:prstGeom prst="roundRect">
            <a:avLst/>
          </a:prstGeom>
          <a:solidFill>
            <a:srgbClr val="0F0F0F"/>
          </a:solidFill>
          <a:ln w="76200">
            <a:solidFill>
              <a:srgbClr val="FFD7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0" name="Прямоугольник: скругленные углы 19">
            <a:extLst>
              <a:ext uri="{FF2B5EF4-FFF2-40B4-BE49-F238E27FC236}">
                <a16:creationId xmlns:a16="http://schemas.microsoft.com/office/drawing/2014/main" id="{050C90F0-B21C-4F85-9342-D1725D61E589}"/>
              </a:ext>
            </a:extLst>
          </p:cNvPr>
          <p:cNvSpPr/>
          <p:nvPr/>
        </p:nvSpPr>
        <p:spPr>
          <a:xfrm>
            <a:off x="7558878" y="4664404"/>
            <a:ext cx="2206593" cy="1588168"/>
          </a:xfrm>
          <a:prstGeom prst="roundRect">
            <a:avLst/>
          </a:prstGeom>
          <a:solidFill>
            <a:srgbClr val="0F0F0F"/>
          </a:solidFill>
          <a:ln w="57150">
            <a:solidFill>
              <a:srgbClr val="DC262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D690EAD2-77EB-42C0-A31E-BF70AF641DF6}"/>
              </a:ext>
            </a:extLst>
          </p:cNvPr>
          <p:cNvSpPr txBox="1"/>
          <p:nvPr/>
        </p:nvSpPr>
        <p:spPr>
          <a:xfrm>
            <a:off x="2826564" y="4230548"/>
            <a:ext cx="171874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>
                <a:solidFill>
                  <a:srgbClr val="FFFFFF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Бизнес-логика</a:t>
            </a:r>
          </a:p>
          <a:p>
            <a:endParaRPr lang="ru-RU" dirty="0"/>
          </a:p>
        </p:txBody>
      </p:sp>
      <p:cxnSp>
        <p:nvCxnSpPr>
          <p:cNvPr id="25" name="Соединитель: уступ 24">
            <a:extLst>
              <a:ext uri="{FF2B5EF4-FFF2-40B4-BE49-F238E27FC236}">
                <a16:creationId xmlns:a16="http://schemas.microsoft.com/office/drawing/2014/main" id="{5241AB66-3DC0-45D4-A659-5712FCFF3262}"/>
              </a:ext>
            </a:extLst>
          </p:cNvPr>
          <p:cNvCxnSpPr>
            <a:cxnSpLocks/>
            <a:stCxn id="5" idx="1"/>
            <a:endCxn id="16" idx="1"/>
          </p:cNvCxnSpPr>
          <p:nvPr/>
        </p:nvCxnSpPr>
        <p:spPr>
          <a:xfrm rot="10800000" flipH="1" flipV="1">
            <a:off x="1158239" y="2728762"/>
            <a:ext cx="63210" cy="2606357"/>
          </a:xfrm>
          <a:prstGeom prst="bentConnector3">
            <a:avLst>
              <a:gd name="adj1" fmla="val -620517"/>
            </a:avLst>
          </a:prstGeom>
          <a:ln w="57150">
            <a:solidFill>
              <a:srgbClr val="888888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Прямая со стрелкой 28">
            <a:extLst>
              <a:ext uri="{FF2B5EF4-FFF2-40B4-BE49-F238E27FC236}">
                <a16:creationId xmlns:a16="http://schemas.microsoft.com/office/drawing/2014/main" id="{5BB43AAF-1064-45C1-ADB0-3DD683AFC7BF}"/>
              </a:ext>
            </a:extLst>
          </p:cNvPr>
          <p:cNvCxnSpPr>
            <a:cxnSpLocks/>
            <a:stCxn id="16" idx="3"/>
            <a:endCxn id="19" idx="1"/>
          </p:cNvCxnSpPr>
          <p:nvPr/>
        </p:nvCxnSpPr>
        <p:spPr>
          <a:xfrm flipV="1">
            <a:off x="6343048" y="5335119"/>
            <a:ext cx="327259" cy="1"/>
          </a:xfrm>
          <a:prstGeom prst="straightConnector1">
            <a:avLst/>
          </a:prstGeom>
          <a:ln w="76200">
            <a:solidFill>
              <a:srgbClr val="888888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TextBox 31">
            <a:extLst>
              <a:ext uri="{FF2B5EF4-FFF2-40B4-BE49-F238E27FC236}">
                <a16:creationId xmlns:a16="http://schemas.microsoft.com/office/drawing/2014/main" id="{91E5B46D-DFEA-4E9D-A815-A5C8CE725EEE}"/>
              </a:ext>
            </a:extLst>
          </p:cNvPr>
          <p:cNvSpPr txBox="1"/>
          <p:nvPr/>
        </p:nvSpPr>
        <p:spPr>
          <a:xfrm>
            <a:off x="7968370" y="5212242"/>
            <a:ext cx="129702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FFFF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SQL Server</a:t>
            </a:r>
            <a:endParaRPr lang="ru-RU" dirty="0">
              <a:solidFill>
                <a:srgbClr val="FFFFFF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endParaRPr lang="ru-RU" dirty="0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B9F05D26-BCAF-469B-9393-E42192E09010}"/>
              </a:ext>
            </a:extLst>
          </p:cNvPr>
          <p:cNvSpPr txBox="1"/>
          <p:nvPr/>
        </p:nvSpPr>
        <p:spPr>
          <a:xfrm>
            <a:off x="1405864" y="5212242"/>
            <a:ext cx="20731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solidFill>
                  <a:srgbClr val="FFFFFF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ScoreboardService</a:t>
            </a:r>
            <a:endParaRPr lang="ru-RU" dirty="0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F8881269-554C-4582-B283-A3968134F386}"/>
              </a:ext>
            </a:extLst>
          </p:cNvPr>
          <p:cNvSpPr txBox="1"/>
          <p:nvPr/>
        </p:nvSpPr>
        <p:spPr>
          <a:xfrm>
            <a:off x="4158447" y="5212242"/>
            <a:ext cx="139993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solidFill>
                  <a:srgbClr val="FFFFFF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CurrentUser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09617752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CC241F5-7071-4BB0-A485-F0892CCAA3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ru-RU" dirty="0">
                <a:solidFill>
                  <a:srgbClr val="FFD7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Преимущества разработанного ПО</a:t>
            </a:r>
          </a:p>
        </p:txBody>
      </p:sp>
      <p:sp>
        <p:nvSpPr>
          <p:cNvPr id="7" name="Прямоугольник: скругленные углы 6">
            <a:extLst>
              <a:ext uri="{FF2B5EF4-FFF2-40B4-BE49-F238E27FC236}">
                <a16:creationId xmlns:a16="http://schemas.microsoft.com/office/drawing/2014/main" id="{67011CE5-1661-4A7A-ADAE-D87A5E1EFA04}"/>
              </a:ext>
            </a:extLst>
          </p:cNvPr>
          <p:cNvSpPr/>
          <p:nvPr/>
        </p:nvSpPr>
        <p:spPr>
          <a:xfrm>
            <a:off x="1339166" y="1799927"/>
            <a:ext cx="2206593" cy="1588168"/>
          </a:xfrm>
          <a:prstGeom prst="roundRect">
            <a:avLst/>
          </a:prstGeom>
          <a:solidFill>
            <a:srgbClr val="0F0F0F"/>
          </a:solidFill>
          <a:ln w="57150">
            <a:solidFill>
              <a:srgbClr val="DC262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8" name="Прямоугольник: скругленные углы 7">
            <a:extLst>
              <a:ext uri="{FF2B5EF4-FFF2-40B4-BE49-F238E27FC236}">
                <a16:creationId xmlns:a16="http://schemas.microsoft.com/office/drawing/2014/main" id="{EBD90434-6F29-4C50-8D23-9C2AE106D0FF}"/>
              </a:ext>
            </a:extLst>
          </p:cNvPr>
          <p:cNvSpPr/>
          <p:nvPr/>
        </p:nvSpPr>
        <p:spPr>
          <a:xfrm>
            <a:off x="3755118" y="4254370"/>
            <a:ext cx="2206593" cy="1588168"/>
          </a:xfrm>
          <a:prstGeom prst="roundRect">
            <a:avLst/>
          </a:prstGeom>
          <a:solidFill>
            <a:srgbClr val="0F0F0F"/>
          </a:solidFill>
          <a:ln w="57150">
            <a:solidFill>
              <a:srgbClr val="2563EB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9" name="Прямоугольник: скругленные углы 8">
            <a:extLst>
              <a:ext uri="{FF2B5EF4-FFF2-40B4-BE49-F238E27FC236}">
                <a16:creationId xmlns:a16="http://schemas.microsoft.com/office/drawing/2014/main" id="{CD4148CF-FBED-43C1-9B5E-39DC5CD74C97}"/>
              </a:ext>
            </a:extLst>
          </p:cNvPr>
          <p:cNvSpPr/>
          <p:nvPr/>
        </p:nvSpPr>
        <p:spPr>
          <a:xfrm>
            <a:off x="6093696" y="1799927"/>
            <a:ext cx="2206593" cy="1588168"/>
          </a:xfrm>
          <a:prstGeom prst="roundRect">
            <a:avLst/>
          </a:prstGeom>
          <a:solidFill>
            <a:srgbClr val="0F0F0F"/>
          </a:solidFill>
          <a:ln w="57150"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4792EF8-59C4-4C6B-BDB4-097276A9FF0D}"/>
              </a:ext>
            </a:extLst>
          </p:cNvPr>
          <p:cNvSpPr txBox="1"/>
          <p:nvPr/>
        </p:nvSpPr>
        <p:spPr>
          <a:xfrm>
            <a:off x="1581304" y="2253546"/>
            <a:ext cx="172231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dirty="0">
                <a:solidFill>
                  <a:srgbClr val="FFFFFF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Интуитивный интерфейс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A9C94DF-46C0-49A3-A488-4D3A0AB035FF}"/>
              </a:ext>
            </a:extLst>
          </p:cNvPr>
          <p:cNvSpPr txBox="1"/>
          <p:nvPr/>
        </p:nvSpPr>
        <p:spPr>
          <a:xfrm>
            <a:off x="3823218" y="4863788"/>
            <a:ext cx="207039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dirty="0" err="1">
                <a:solidFill>
                  <a:srgbClr val="FFFFFF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Многоэкранность</a:t>
            </a:r>
            <a:endParaRPr lang="ru-RU" dirty="0">
              <a:solidFill>
                <a:srgbClr val="FFFFFF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endParaRPr lang="ru-RU" dirty="0"/>
          </a:p>
        </p:txBody>
      </p:sp>
      <p:sp>
        <p:nvSpPr>
          <p:cNvPr id="13" name="Прямоугольник: скругленные углы 12">
            <a:extLst>
              <a:ext uri="{FF2B5EF4-FFF2-40B4-BE49-F238E27FC236}">
                <a16:creationId xmlns:a16="http://schemas.microsoft.com/office/drawing/2014/main" id="{F36A166D-7E03-4B72-B82E-260A7735DD54}"/>
              </a:ext>
            </a:extLst>
          </p:cNvPr>
          <p:cNvSpPr/>
          <p:nvPr/>
        </p:nvSpPr>
        <p:spPr>
          <a:xfrm>
            <a:off x="8553328" y="4109068"/>
            <a:ext cx="2206593" cy="1588168"/>
          </a:xfrm>
          <a:prstGeom prst="roundRect">
            <a:avLst/>
          </a:prstGeom>
          <a:solidFill>
            <a:srgbClr val="0F0F0F"/>
          </a:solidFill>
          <a:ln w="57150"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60AA469-F770-460C-8F8A-388166030775}"/>
              </a:ext>
            </a:extLst>
          </p:cNvPr>
          <p:cNvSpPr txBox="1"/>
          <p:nvPr/>
        </p:nvSpPr>
        <p:spPr>
          <a:xfrm>
            <a:off x="6083464" y="2326197"/>
            <a:ext cx="221682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>
                <a:solidFill>
                  <a:srgbClr val="FFFFFF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Гибкое управление</a:t>
            </a:r>
          </a:p>
          <a:p>
            <a:endParaRPr lang="ru-RU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12B020B0-B8F2-4932-A0B7-972FD89844A8}"/>
              </a:ext>
            </a:extLst>
          </p:cNvPr>
          <p:cNvSpPr txBox="1"/>
          <p:nvPr/>
        </p:nvSpPr>
        <p:spPr>
          <a:xfrm>
            <a:off x="8919657" y="4725288"/>
            <a:ext cx="161775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>
                <a:solidFill>
                  <a:srgbClr val="FFFFFF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Безопасность</a:t>
            </a:r>
          </a:p>
          <a:p>
            <a:endParaRPr lang="ru-RU" dirty="0"/>
          </a:p>
        </p:txBody>
      </p:sp>
      <p:pic>
        <p:nvPicPr>
          <p:cNvPr id="18" name="Рисунок 17" descr="Контур смешного лица со сплошной заливкой">
            <a:extLst>
              <a:ext uri="{FF2B5EF4-FFF2-40B4-BE49-F238E27FC236}">
                <a16:creationId xmlns:a16="http://schemas.microsoft.com/office/drawing/2014/main" id="{A32503DE-0C52-4776-953C-73D82873275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432079" y="4069885"/>
            <a:ext cx="1772653" cy="1772653"/>
          </a:xfrm>
          <a:prstGeom prst="rect">
            <a:avLst/>
          </a:prstGeom>
        </p:spPr>
      </p:pic>
      <p:pic>
        <p:nvPicPr>
          <p:cNvPr id="20" name="Рисунок 19" descr="Монитор со сплошной заливкой">
            <a:extLst>
              <a:ext uri="{FF2B5EF4-FFF2-40B4-BE49-F238E27FC236}">
                <a16:creationId xmlns:a16="http://schemas.microsoft.com/office/drawing/2014/main" id="{DA5AFA4E-C97A-4E33-A4B4-9080889D5BA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996553" y="1708260"/>
            <a:ext cx="1965158" cy="1965158"/>
          </a:xfrm>
          <a:prstGeom prst="rect">
            <a:avLst/>
          </a:prstGeom>
        </p:spPr>
      </p:pic>
      <p:pic>
        <p:nvPicPr>
          <p:cNvPr id="22" name="Рисунок 21" descr="Блокировка со сплошной заливкой">
            <a:extLst>
              <a:ext uri="{FF2B5EF4-FFF2-40B4-BE49-F238E27FC236}">
                <a16:creationId xmlns:a16="http://schemas.microsoft.com/office/drawing/2014/main" id="{D7328BD0-391A-4CB0-9537-A4C6FA318528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8741215" y="1648017"/>
            <a:ext cx="1891988" cy="1891988"/>
          </a:xfrm>
          <a:prstGeom prst="rect">
            <a:avLst/>
          </a:prstGeom>
        </p:spPr>
      </p:pic>
      <p:pic>
        <p:nvPicPr>
          <p:cNvPr id="24" name="Рисунок 23" descr="Кресло-каталка со сплошной заливкой">
            <a:extLst>
              <a:ext uri="{FF2B5EF4-FFF2-40B4-BE49-F238E27FC236}">
                <a16:creationId xmlns:a16="http://schemas.microsoft.com/office/drawing/2014/main" id="{37627446-CA9E-43F8-BB10-00D8239AD4F2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6371193" y="4016825"/>
            <a:ext cx="1772653" cy="17726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7013773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7257E47-3FC3-40ED-9E54-093AB5FE9E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ru-RU" dirty="0">
                <a:solidFill>
                  <a:srgbClr val="FFD7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Заключение</a:t>
            </a:r>
          </a:p>
        </p:txBody>
      </p:sp>
      <p:pic>
        <p:nvPicPr>
          <p:cNvPr id="8" name="Объект 7" descr="В яблочко со сплошной заливкой">
            <a:extLst>
              <a:ext uri="{FF2B5EF4-FFF2-40B4-BE49-F238E27FC236}">
                <a16:creationId xmlns:a16="http://schemas.microsoft.com/office/drawing/2014/main" id="{1A5EB97B-8610-4523-9499-B4DDE809911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638800" y="3544094"/>
            <a:ext cx="914400" cy="914400"/>
          </a:xfrm>
        </p:spPr>
      </p:pic>
      <p:sp>
        <p:nvSpPr>
          <p:cNvPr id="4" name="Прямоугольник: скругленные углы 3">
            <a:extLst>
              <a:ext uri="{FF2B5EF4-FFF2-40B4-BE49-F238E27FC236}">
                <a16:creationId xmlns:a16="http://schemas.microsoft.com/office/drawing/2014/main" id="{BF200F7A-284C-4B13-8D75-B782A60DACC3}"/>
              </a:ext>
            </a:extLst>
          </p:cNvPr>
          <p:cNvSpPr/>
          <p:nvPr/>
        </p:nvSpPr>
        <p:spPr>
          <a:xfrm>
            <a:off x="1366786" y="1876927"/>
            <a:ext cx="9424737" cy="4253413"/>
          </a:xfrm>
          <a:prstGeom prst="roundRect">
            <a:avLst/>
          </a:prstGeom>
          <a:solidFill>
            <a:srgbClr val="0F0F0F"/>
          </a:solidFill>
          <a:ln w="762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" name="Прямоугольник: скругленные углы 4">
            <a:extLst>
              <a:ext uri="{FF2B5EF4-FFF2-40B4-BE49-F238E27FC236}">
                <a16:creationId xmlns:a16="http://schemas.microsoft.com/office/drawing/2014/main" id="{1B61207F-31DB-4A21-8D70-688E618F7F4F}"/>
              </a:ext>
            </a:extLst>
          </p:cNvPr>
          <p:cNvSpPr/>
          <p:nvPr/>
        </p:nvSpPr>
        <p:spPr>
          <a:xfrm>
            <a:off x="1576938" y="2031883"/>
            <a:ext cx="9424737" cy="4253413"/>
          </a:xfrm>
          <a:prstGeom prst="roundRect">
            <a:avLst/>
          </a:prstGeom>
          <a:solidFill>
            <a:srgbClr val="0F0F0F"/>
          </a:solidFill>
          <a:ln w="76200">
            <a:solidFill>
              <a:srgbClr val="DC262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	</a:t>
            </a:r>
            <a:endParaRPr lang="ru-RU" sz="28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71E9B72-8BD9-45CF-B3F1-E783A15F1E1E}"/>
              </a:ext>
            </a:extLst>
          </p:cNvPr>
          <p:cNvSpPr txBox="1"/>
          <p:nvPr/>
        </p:nvSpPr>
        <p:spPr>
          <a:xfrm>
            <a:off x="2098308" y="3558424"/>
            <a:ext cx="3445843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400" dirty="0">
                <a:solidFill>
                  <a:srgbClr val="FFFFFF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✦ Поставленная цель и все задачи выполнены</a:t>
            </a:r>
            <a:endParaRPr lang="ru-RU" sz="2400" dirty="0">
              <a:solidFill>
                <a:srgbClr val="FFFFFF"/>
              </a:solidFill>
            </a:endParaRPr>
          </a:p>
        </p:txBody>
      </p:sp>
      <p:pic>
        <p:nvPicPr>
          <p:cNvPr id="10" name="Рисунок 9" descr="В яблочко со сплошной заливкой">
            <a:extLst>
              <a:ext uri="{FF2B5EF4-FFF2-40B4-BE49-F238E27FC236}">
                <a16:creationId xmlns:a16="http://schemas.microsoft.com/office/drawing/2014/main" id="{80639D8E-3009-4EC7-9463-0DD1419DFEC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7005586" y="2713996"/>
            <a:ext cx="2889183" cy="28891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844314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CE0D6210-AF27-46F6-AF58-2C16F8AD2B1F}"/>
              </a:ext>
            </a:extLst>
          </p:cNvPr>
          <p:cNvSpPr txBox="1"/>
          <p:nvPr/>
        </p:nvSpPr>
        <p:spPr>
          <a:xfrm>
            <a:off x="2295473" y="163629"/>
            <a:ext cx="7601055" cy="258532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1800" dirty="0">
                <a:solidFill>
                  <a:srgbClr val="888888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ФЕДЕРАЛЬНОЕ ГОСУДАРСТВЕННОЕ БЮДЖЕТНОЕ ОБРАЗОВАТЕЛЬНОЕ</a:t>
            </a:r>
            <a:br>
              <a:rPr lang="ru-RU" sz="1800" dirty="0">
                <a:solidFill>
                  <a:srgbClr val="888888"/>
                </a:solidFill>
                <a:latin typeface="Segoe UI" panose="020B0502040204020203" pitchFamily="34" charset="0"/>
                <a:cs typeface="Segoe UI" panose="020B0502040204020203" pitchFamily="34" charset="0"/>
              </a:rPr>
            </a:br>
            <a:r>
              <a:rPr lang="ru-RU" sz="1800" dirty="0">
                <a:solidFill>
                  <a:srgbClr val="888888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УЧРЕЖДЕНИЕ ВЫСШЕГО ОБРАЗОВАНИЯ</a:t>
            </a:r>
            <a:br>
              <a:rPr lang="ru-RU" sz="1800" dirty="0">
                <a:solidFill>
                  <a:srgbClr val="888888"/>
                </a:solidFill>
                <a:latin typeface="Segoe UI" panose="020B0502040204020203" pitchFamily="34" charset="0"/>
                <a:cs typeface="Segoe UI" panose="020B0502040204020203" pitchFamily="34" charset="0"/>
              </a:rPr>
            </a:br>
            <a:r>
              <a:rPr lang="ru-RU" sz="1800" dirty="0">
                <a:solidFill>
                  <a:srgbClr val="888888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«САНКТ-ПЕТЕРБУРГСКИЙ ГОСУДАРСТВЕННЫЙ УНИВЕРСИТЕТ</a:t>
            </a:r>
            <a:br>
              <a:rPr lang="ru-RU" sz="1800" dirty="0">
                <a:solidFill>
                  <a:srgbClr val="888888"/>
                </a:solidFill>
                <a:latin typeface="Segoe UI" panose="020B0502040204020203" pitchFamily="34" charset="0"/>
                <a:cs typeface="Segoe UI" panose="020B0502040204020203" pitchFamily="34" charset="0"/>
              </a:rPr>
            </a:br>
            <a:r>
              <a:rPr lang="ru-RU" sz="1800" dirty="0">
                <a:solidFill>
                  <a:srgbClr val="888888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ТЕЛЕКОММУНИКАЦИЙ ИМ. ПРОФ. М.А. БОНЧ-БРУЕВИЧА»</a:t>
            </a:r>
            <a:br>
              <a:rPr lang="ru-RU" sz="1800" dirty="0">
                <a:solidFill>
                  <a:srgbClr val="888888"/>
                </a:solidFill>
                <a:latin typeface="Segoe UI" panose="020B0502040204020203" pitchFamily="34" charset="0"/>
                <a:cs typeface="Segoe UI" panose="020B0502040204020203" pitchFamily="34" charset="0"/>
              </a:rPr>
            </a:br>
            <a:r>
              <a:rPr lang="ru-RU" sz="1800" dirty="0">
                <a:solidFill>
                  <a:srgbClr val="888888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(</a:t>
            </a:r>
            <a:r>
              <a:rPr lang="ru-RU" sz="1800" dirty="0" err="1">
                <a:solidFill>
                  <a:srgbClr val="888888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СПбГУТ</a:t>
            </a:r>
            <a:r>
              <a:rPr lang="ru-RU" sz="1800" dirty="0">
                <a:solidFill>
                  <a:srgbClr val="888888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)</a:t>
            </a:r>
            <a:br>
              <a:rPr lang="ru-RU" sz="1800" dirty="0">
                <a:solidFill>
                  <a:srgbClr val="888888"/>
                </a:solidFill>
                <a:latin typeface="Segoe UI" panose="020B0502040204020203" pitchFamily="34" charset="0"/>
                <a:cs typeface="Segoe UI" panose="020B0502040204020203" pitchFamily="34" charset="0"/>
              </a:rPr>
            </a:br>
            <a:r>
              <a:rPr lang="ru-RU" sz="1800" dirty="0">
                <a:solidFill>
                  <a:srgbClr val="888888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АРХАНГЕЛЬСКИЙ КОЛЛЕДЖ ТЕЛЕКОММУНИКАЦИЙ</a:t>
            </a:r>
            <a:br>
              <a:rPr lang="ru-RU" sz="1800" dirty="0">
                <a:solidFill>
                  <a:srgbClr val="888888"/>
                </a:solidFill>
                <a:latin typeface="Segoe UI" panose="020B0502040204020203" pitchFamily="34" charset="0"/>
                <a:cs typeface="Segoe UI" panose="020B0502040204020203" pitchFamily="34" charset="0"/>
              </a:rPr>
            </a:br>
            <a:r>
              <a:rPr lang="ru-RU" sz="1800" dirty="0">
                <a:solidFill>
                  <a:srgbClr val="888888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ИМ. Б.Л. РОЗИНГА (ФИЛИАЛ) </a:t>
            </a:r>
            <a:r>
              <a:rPr lang="ru-RU" sz="1800" dirty="0" err="1">
                <a:solidFill>
                  <a:srgbClr val="888888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СПбГУТ</a:t>
            </a:r>
            <a:br>
              <a:rPr lang="ru-RU" sz="1800" dirty="0">
                <a:solidFill>
                  <a:srgbClr val="888888"/>
                </a:solidFill>
                <a:latin typeface="Segoe UI" panose="020B0502040204020203" pitchFamily="34" charset="0"/>
                <a:cs typeface="Segoe UI" panose="020B0502040204020203" pitchFamily="34" charset="0"/>
              </a:rPr>
            </a:br>
            <a:r>
              <a:rPr lang="ru-RU" sz="1800" dirty="0">
                <a:solidFill>
                  <a:srgbClr val="888888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(АКТ (ф) </a:t>
            </a:r>
            <a:r>
              <a:rPr lang="ru-RU" sz="1800" dirty="0" err="1">
                <a:solidFill>
                  <a:srgbClr val="888888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СПбГУТ</a:t>
            </a:r>
            <a:r>
              <a:rPr lang="ru-RU" sz="1800" dirty="0">
                <a:solidFill>
                  <a:srgbClr val="888888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)</a:t>
            </a:r>
          </a:p>
          <a:p>
            <a:endParaRPr lang="ru-RU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E4A6D8E-E6D1-46B0-8004-1E1DB603A127}"/>
              </a:ext>
            </a:extLst>
          </p:cNvPr>
          <p:cNvSpPr txBox="1"/>
          <p:nvPr/>
        </p:nvSpPr>
        <p:spPr>
          <a:xfrm>
            <a:off x="4661150" y="2651374"/>
            <a:ext cx="3144515" cy="73866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2400" b="1" dirty="0">
                <a:solidFill>
                  <a:srgbClr val="FFD7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КУРСОВОЙ</a:t>
            </a:r>
            <a:r>
              <a:rPr lang="ru-RU" sz="2400" dirty="0">
                <a:solidFill>
                  <a:srgbClr val="FFD7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  <a:r>
              <a:rPr lang="ru-RU" sz="2400" b="1" dirty="0">
                <a:solidFill>
                  <a:srgbClr val="FFD7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ПРОЕКТ</a:t>
            </a:r>
          </a:p>
          <a:p>
            <a:endParaRPr lang="ru-RU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89F7D4B-269A-4CAE-A54C-677C95976014}"/>
              </a:ext>
            </a:extLst>
          </p:cNvPr>
          <p:cNvSpPr txBox="1"/>
          <p:nvPr/>
        </p:nvSpPr>
        <p:spPr>
          <a:xfrm>
            <a:off x="3169968" y="3164153"/>
            <a:ext cx="612687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dirty="0">
                <a:solidFill>
                  <a:srgbClr val="FFFFFF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РАЗРАБОТКА ПОДСИСТЕМЫ ДЛЯ СУДЕЙСТВА СОРЕВНОВАНИЙ ПО ГРЕКО-РИМСКОЙ И ВОЛЬНОЙ БОРЬБЕ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FA39A9E-0779-4845-B4D0-67AF1696BE37}"/>
              </a:ext>
            </a:extLst>
          </p:cNvPr>
          <p:cNvSpPr txBox="1"/>
          <p:nvPr/>
        </p:nvSpPr>
        <p:spPr>
          <a:xfrm>
            <a:off x="8313821" y="4611121"/>
            <a:ext cx="6097604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>
                <a:solidFill>
                  <a:srgbClr val="FFD7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Махин Николай Юрьевич</a:t>
            </a:r>
          </a:p>
          <a:p>
            <a:r>
              <a:rPr lang="ru-RU" sz="1600" dirty="0">
                <a:solidFill>
                  <a:srgbClr val="FFFFFF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Студент ИСПП-21</a:t>
            </a:r>
          </a:p>
          <a:p>
            <a:endParaRPr lang="ru-RU" dirty="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r>
              <a:rPr lang="ru-RU" dirty="0" err="1">
                <a:solidFill>
                  <a:srgbClr val="FFD7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Маломан</a:t>
            </a:r>
            <a:r>
              <a:rPr lang="ru-RU" dirty="0">
                <a:solidFill>
                  <a:srgbClr val="FFD7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Юлия Сергеевна</a:t>
            </a:r>
            <a:br>
              <a:rPr lang="ru-RU" dirty="0">
                <a:latin typeface="Segoe UI" panose="020B0502040204020203" pitchFamily="34" charset="0"/>
                <a:cs typeface="Segoe UI" panose="020B0502040204020203" pitchFamily="34" charset="0"/>
              </a:rPr>
            </a:br>
            <a:r>
              <a:rPr lang="ru-RU" dirty="0">
                <a:solidFill>
                  <a:srgbClr val="FFFFFF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Руководитель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6151BDC0-3D1A-490C-92A3-B12AFB650F8E}"/>
              </a:ext>
            </a:extLst>
          </p:cNvPr>
          <p:cNvSpPr txBox="1"/>
          <p:nvPr/>
        </p:nvSpPr>
        <p:spPr>
          <a:xfrm>
            <a:off x="5342021" y="6323798"/>
            <a:ext cx="205024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>
                <a:solidFill>
                  <a:srgbClr val="888888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Архангельск 2025</a:t>
            </a:r>
            <a:endParaRPr lang="ru-RU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7259459"/>
      </p:ext>
    </p:extLst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89</TotalTime>
  <Words>324</Words>
  <Application>Microsoft Office PowerPoint</Application>
  <PresentationFormat>Широкоэкранный</PresentationFormat>
  <Paragraphs>80</Paragraphs>
  <Slides>10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4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10</vt:i4>
      </vt:variant>
    </vt:vector>
  </HeadingPairs>
  <TitlesOfParts>
    <vt:vector size="15" baseType="lpstr">
      <vt:lpstr>Arial</vt:lpstr>
      <vt:lpstr>Calibri</vt:lpstr>
      <vt:lpstr>Calibri Light</vt:lpstr>
      <vt:lpstr>Segoe UI</vt:lpstr>
      <vt:lpstr>Тема Office</vt:lpstr>
      <vt:lpstr>Презентация PowerPoint</vt:lpstr>
      <vt:lpstr>Актуальность</vt:lpstr>
      <vt:lpstr>Целевая аудитория</vt:lpstr>
      <vt:lpstr>Цель</vt:lpstr>
      <vt:lpstr>Задачи</vt:lpstr>
      <vt:lpstr>Средства разработки</vt:lpstr>
      <vt:lpstr>Архитектура системы</vt:lpstr>
      <vt:lpstr>Преимущества разработанного ПО</vt:lpstr>
      <vt:lpstr>Заключение</vt:lpstr>
      <vt:lpstr>Презентация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kokos626@outlook.com</dc:creator>
  <cp:lastModifiedBy>kokos626@outlook.com</cp:lastModifiedBy>
  <cp:revision>11</cp:revision>
  <dcterms:created xsi:type="dcterms:W3CDTF">2025-12-09T03:31:49Z</dcterms:created>
  <dcterms:modified xsi:type="dcterms:W3CDTF">2025-12-09T05:01:30Z</dcterms:modified>
</cp:coreProperties>
</file>